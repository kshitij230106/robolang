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presentation for RoboLang — a Domain-Specific Robot Programming Language and 2D Interactive Simulator developed for the Compiler Design course. This presentation walks through the complete end-to-end compiler pipeline, architecture, virtual machine, and real-time visual web simulator.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compiler projects often feel abstract because parsing text into an abstract syntax tree ends in a terminal. RoboLang solves this by linking compiler theory with visual robotics. Students and reviewers can immediately see how code compiles down to bytecode and executes on a simulated robot.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master architecture of RoboLang. It strictly adheres to classic dragon-book compiler design principles: front-end lexical and syntax analysis, semantic checking, middle-end intermediate representation, and back-end code generation and runtime execution.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Lexer is implemented in compiler/lexer.py. It processes the text line by line using regular expressions. Crucially, it attaches line numbers to every token so downstream errors in parsing or semantic analysis can tell the programmer the exact line where a mistake occurred.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2 and 3 transform flat token sequences into a hierarchical Abstract Syntax Tree. The parser is built using recursive descent in compiler/parser.py. The AST nodes defined in compiler/ast.py utilize Python dataclasses and include to_dict methods, making them directly serializable for the web UI.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Semantic analysis proves that syntax validity is not enough. A statement like 'MOVE -50' passes lexical and syntactic checks because -50 is an integer, but semantically a robot cannot move a negative distance in RoboLang. The SemanticAnalyzer catches these issues and accumulates user-friendly error messages.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Phase 5, the IR Generator flattens the AST into a linear instruction sequence. This mirrors standard production compilers like LLVM or GCC, ensuring the front-end parser is decoupled from the back-end code generator and virtual machine.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generation in compiler/codegen.py transforms abstract IR into numeric bytecode. Just like the Java Virtual Machine (JVM) or Python bytecode, RoboLang converts operations into concise opcodes (1 for MOVE, 2 for TURN) followed by their arguments.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Virtual Machine in compiler/vm.py acts as the software CPU for RoboLang. Beyond executing the bytecode, it records a rich execution trace. This trace details the robot's coordinates before and after each instruction, which empowers the frontend to animate the robot smoothly.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backend built in backend/main.py exposes the compiler over HTTP. Instead of just returning a final position, it bundles the tokens, the AST dictionary, the intermediate representation, the bytecode, and the step trace into one structured JSON response.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frontend simulator is built with Vanilla HTML, CSS, and JavaScript. It provides a visual IDE where users can write or load sample RoboLang programs, hit compile, and watch the robot follow the path on a 2D canvas with full step-by-step playback controls.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walks through a concrete RoboLang program from start to finish. Starting at (0, 0) facing NORTH, the program moves up 100, turns right to face EAST, moves 50, turns left to face NORTH, and moves 30, arriving precisely at (50, 130).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academic reviewers and course professors, this slide maps RoboLang directly to the standard Compiler Design syllabus. It fulfills all major course outcomes, proving practical understanding of lexical, syntactic, semantic, IR, codegen, and VM engineering.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of RoboLang is designed to be easily extensible. In future iterations, we can add loops, variables with symbol tables, obstacles in the canvas simulator, and step-by-step breakpoint debugging.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RoboLang demonstrates how abstract compiler principles can be applied to create an intuitive domain-specific programming language and visual simulator. We are now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109728" cy="3474720"/>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463040"/>
            <a:ext cx="10332720" cy="3291840"/>
          </a:xfrm>
          <a:prstGeom prst="rect">
            <a:avLst/>
          </a:prstGeom>
          <a:noFill/>
        </p:spPr>
        <p:txBody>
          <a:bodyPr wrap="square">
            <a:spAutoFit/>
          </a:bodyPr>
          <a:lstStyle/>
          <a:p>
            <a:pPr>
              <a:defRPr sz="4400" b="1">
                <a:solidFill>
                  <a:srgbClr val="F8FAFC"/>
                </a:solidFill>
                <a:latin typeface="Segoe UI"/>
              </a:defRPr>
            </a:pPr>
            <a:r>
              <a:t>ROBOLANG</a:t>
            </a:r>
          </a:p>
          <a:p>
            <a:pPr>
              <a:spcBef>
                <a:spcPts val="800"/>
              </a:spcBef>
              <a:defRPr sz="2400" b="1">
                <a:solidFill>
                  <a:srgbClr val="38BDF8"/>
                </a:solidFill>
                <a:latin typeface="Segoe UI"/>
              </a:defRPr>
            </a:pPr>
            <a:r>
              <a:t>Robot Programming Language &amp; 2D Simulator</a:t>
            </a:r>
          </a:p>
          <a:p>
            <a:pPr>
              <a:spcBef>
                <a:spcPts val="1400"/>
              </a:spcBef>
              <a:defRPr sz="1500">
                <a:solidFill>
                  <a:srgbClr val="94A3B8"/>
                </a:solidFill>
                <a:latin typeface="Segoe UI"/>
              </a:defRPr>
            </a:pPr>
            <a:r>
              <a:t>A Complete End-to-End Compiler Pipeline &amp; Interactive Virtual Machine Execution Environment</a:t>
            </a:r>
          </a:p>
        </p:txBody>
      </p:sp>
      <p:sp>
        <p:nvSpPr>
          <p:cNvPr id="5" name="Rounded Rectangle 4"/>
          <p:cNvSpPr/>
          <p:nvPr/>
        </p:nvSpPr>
        <p:spPr>
          <a:xfrm>
            <a:off x="1097280" y="5120640"/>
            <a:ext cx="1965960" cy="640080"/>
          </a:xfrm>
          <a:prstGeom prst="roundRect">
            <a:avLst/>
          </a:prstGeom>
          <a:solidFill>
            <a:srgbClr val="1E293B"/>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100" b="1">
                <a:solidFill>
                  <a:srgbClr val="F8FAFC"/>
                </a:solidFill>
                <a:latin typeface="Segoe UI"/>
              </a:defRPr>
            </a:pPr>
            <a:r>
              <a:t>Lexer &amp; Recursive Parser</a:t>
            </a:r>
          </a:p>
        </p:txBody>
      </p:sp>
      <p:sp>
        <p:nvSpPr>
          <p:cNvPr id="6" name="Rounded Rectangle 5"/>
          <p:cNvSpPr/>
          <p:nvPr/>
        </p:nvSpPr>
        <p:spPr>
          <a:xfrm>
            <a:off x="3154680" y="5120640"/>
            <a:ext cx="1965960" cy="64008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100" b="1">
                <a:solidFill>
                  <a:srgbClr val="F8FAFC"/>
                </a:solidFill>
                <a:latin typeface="Segoe UI"/>
              </a:defRPr>
            </a:pPr>
            <a:r>
              <a:t>Semantic Validation</a:t>
            </a:r>
          </a:p>
        </p:txBody>
      </p:sp>
      <p:sp>
        <p:nvSpPr>
          <p:cNvPr id="7" name="Rounded Rectangle 6"/>
          <p:cNvSpPr/>
          <p:nvPr/>
        </p:nvSpPr>
        <p:spPr>
          <a:xfrm>
            <a:off x="5212080" y="5120640"/>
            <a:ext cx="1965960" cy="64008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100" b="1">
                <a:solidFill>
                  <a:srgbClr val="F8FAFC"/>
                </a:solidFill>
                <a:latin typeface="Segoe UI"/>
              </a:defRPr>
            </a:pPr>
            <a:r>
              <a:t>IR &amp; Bytecode Generator</a:t>
            </a:r>
          </a:p>
        </p:txBody>
      </p:sp>
      <p:sp>
        <p:nvSpPr>
          <p:cNvPr id="8" name="Rounded Rectangle 7"/>
          <p:cNvSpPr/>
          <p:nvPr/>
        </p:nvSpPr>
        <p:spPr>
          <a:xfrm>
            <a:off x="7269480" y="5120640"/>
            <a:ext cx="1965960" cy="64008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100" b="1">
                <a:solidFill>
                  <a:srgbClr val="F8FAFC"/>
                </a:solidFill>
                <a:latin typeface="Segoe UI"/>
              </a:defRPr>
            </a:pPr>
            <a:r>
              <a:t>Custom Python VM</a:t>
            </a:r>
          </a:p>
        </p:txBody>
      </p:sp>
      <p:sp>
        <p:nvSpPr>
          <p:cNvPr id="9" name="Rounded Rectangle 8"/>
          <p:cNvSpPr/>
          <p:nvPr/>
        </p:nvSpPr>
        <p:spPr>
          <a:xfrm>
            <a:off x="9326880" y="5120640"/>
            <a:ext cx="1965960" cy="640080"/>
          </a:xfrm>
          <a:prstGeom prst="roundRect">
            <a:avLst/>
          </a:prstGeom>
          <a:solidFill>
            <a:srgbClr val="1E293B"/>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tIns="109728"/>
          <a:lstStyle/>
          <a:p>
            <a:pPr algn="ctr">
              <a:defRPr sz="1100" b="1">
                <a:solidFill>
                  <a:srgbClr val="F8FAFC"/>
                </a:solidFill>
                <a:latin typeface="Segoe UI"/>
              </a:defRPr>
            </a:pPr>
            <a:r>
              <a:t>FastAPI + HTML5 Canvas 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1000" b="1">
                <a:solidFill>
                  <a:srgbClr val="38BDF8"/>
                </a:solidFill>
                <a:latin typeface="Segoe UI"/>
              </a:defRPr>
            </a:pPr>
            <a:r>
              <a:t>CONTEXT &amp; MOTIVATION</a:t>
            </a:r>
          </a:p>
        </p:txBody>
      </p:sp>
      <p:sp>
        <p:nvSpPr>
          <p:cNvPr id="4" name="TextBox 3"/>
          <p:cNvSpPr txBox="1"/>
          <p:nvPr/>
        </p:nvSpPr>
        <p:spPr>
          <a:xfrm>
            <a:off x="731520" y="777240"/>
            <a:ext cx="10698480" cy="640080"/>
          </a:xfrm>
          <a:prstGeom prst="rect">
            <a:avLst/>
          </a:prstGeom>
          <a:noFill/>
        </p:spPr>
        <p:txBody>
          <a:bodyPr wrap="square" lIns="0" tIns="0">
            <a:spAutoFit/>
          </a:bodyPr>
          <a:lstStyle/>
          <a:p>
            <a:pPr>
              <a:defRPr sz="2600" b="1">
                <a:solidFill>
                  <a:srgbClr val="F8FAFC"/>
                </a:solidFill>
                <a:latin typeface="Segoe UI"/>
              </a:defRPr>
            </a:pPr>
            <a:r>
              <a:t>Bridging Compiler Theory to Visual Execution</a:t>
            </a:r>
          </a:p>
          <a:p>
            <a:pPr>
              <a:spcBef>
                <a:spcPts val="400"/>
              </a:spcBef>
              <a:defRPr sz="1300">
                <a:solidFill>
                  <a:srgbClr val="94A3B8"/>
                </a:solidFill>
                <a:latin typeface="Segoe UI"/>
              </a:defRPr>
            </a:pPr>
            <a:r>
              <a:t>Why build a domain-specific robotics language and simulation platform?</a:t>
            </a:r>
          </a:p>
        </p:txBody>
      </p:sp>
      <p:sp>
        <p:nvSpPr>
          <p:cNvPr id="5" name="Rounded Rectangle 4"/>
          <p:cNvSpPr/>
          <p:nvPr/>
        </p:nvSpPr>
        <p:spPr>
          <a:xfrm>
            <a:off x="731520" y="1645920"/>
            <a:ext cx="5120640" cy="457200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The Academic Gap in Compiler Theory</a:t>
            </a:r>
          </a:p>
          <a:p>
            <a:pPr>
              <a:spcBef>
                <a:spcPts val="1200"/>
              </a:spcBef>
            </a:pPr>
            <a:r>
              <a:rPr b="1" sz="1300">
                <a:solidFill>
                  <a:srgbClr val="FBBF24"/>
                </a:solidFill>
              </a:rPr>
              <a:t>• Pure Theory Focus: </a:t>
            </a:r>
            <a:r>
              <a:rPr sz="1300">
                <a:solidFill>
                  <a:srgbClr val="94A3B8"/>
                </a:solidFill>
              </a:rPr>
              <a:t>Traditional compiler courses predominantly stop at theoretical AST generation or command-line parse tree dumps.</a:t>
            </a:r>
          </a:p>
          <a:p>
            <a:pPr>
              <a:spcBef>
                <a:spcPts val="1200"/>
              </a:spcBef>
            </a:pPr>
            <a:r>
              <a:rPr b="1" sz="1300">
                <a:solidFill>
                  <a:srgbClr val="FBBF24"/>
                </a:solidFill>
              </a:rPr>
              <a:t>• No Tangible Output: </a:t>
            </a:r>
            <a:r>
              <a:rPr sz="1300">
                <a:solidFill>
                  <a:srgbClr val="94A3B8"/>
                </a:solidFill>
              </a:rPr>
              <a:t>Students rarely see instructions physically or visually manifest beyond terminal text or raw assembly output.</a:t>
            </a:r>
          </a:p>
          <a:p>
            <a:pPr>
              <a:spcBef>
                <a:spcPts val="1200"/>
              </a:spcBef>
            </a:pPr>
            <a:r>
              <a:rPr b="1" sz="1300">
                <a:solidFill>
                  <a:srgbClr val="FBBF24"/>
                </a:solidFill>
              </a:rPr>
              <a:t>• High Barrier to Entry: </a:t>
            </a:r>
            <a:r>
              <a:rPr sz="1300">
                <a:solidFill>
                  <a:srgbClr val="94A3B8"/>
                </a:solidFill>
              </a:rPr>
              <a:t>Standard general-purpose compilers (C, Java) are too intricate to grasp in a single semester without losing sight of core fundamentals.</a:t>
            </a:r>
          </a:p>
          <a:p>
            <a:pPr>
              <a:spcBef>
                <a:spcPts val="1200"/>
              </a:spcBef>
            </a:pPr>
            <a:r>
              <a:rPr b="1" sz="1300">
                <a:solidFill>
                  <a:srgbClr val="FBBF24"/>
                </a:solidFill>
              </a:rPr>
              <a:t>• Disconnection: </a:t>
            </a:r>
            <a:r>
              <a:rPr sz="1300">
                <a:solidFill>
                  <a:srgbClr val="94A3B8"/>
                </a:solidFill>
              </a:rPr>
              <a:t>A perceived divide between theoretical computer science (automata, grammars) and practical applications (robotics, UI).</a:t>
            </a:r>
          </a:p>
        </p:txBody>
      </p:sp>
      <p:sp>
        <p:nvSpPr>
          <p:cNvPr id="6" name="Rounded Rectangle 5"/>
          <p:cNvSpPr/>
          <p:nvPr/>
        </p:nvSpPr>
        <p:spPr>
          <a:xfrm>
            <a:off x="6309360" y="1645920"/>
            <a:ext cx="5120640" cy="457200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The RoboLang Vision &amp; Solution</a:t>
            </a:r>
          </a:p>
          <a:p>
            <a:pPr>
              <a:spcBef>
                <a:spcPts val="1200"/>
              </a:spcBef>
            </a:pPr>
            <a:r>
              <a:rPr b="1" sz="1300">
                <a:solidFill>
                  <a:srgbClr val="34D399"/>
                </a:solidFill>
              </a:rPr>
              <a:t>• Full Compiler Lifecycle: </a:t>
            </a:r>
            <a:r>
              <a:rPr sz="1300">
                <a:solidFill>
                  <a:srgbClr val="94A3B8"/>
                </a:solidFill>
              </a:rPr>
              <a:t>Covers all 7 textbook phases from Lexical Analysis to Bytecode generation and Virtual Machine execution.</a:t>
            </a:r>
          </a:p>
          <a:p>
            <a:pPr>
              <a:spcBef>
                <a:spcPts val="1200"/>
              </a:spcBef>
            </a:pPr>
            <a:r>
              <a:rPr b="1" sz="1300">
                <a:solidFill>
                  <a:srgbClr val="34D399"/>
                </a:solidFill>
              </a:rPr>
              <a:t>• Tangible Visual Feedback: </a:t>
            </a:r>
            <a:r>
              <a:rPr sz="1300">
                <a:solidFill>
                  <a:srgbClr val="94A3B8"/>
                </a:solidFill>
              </a:rPr>
              <a:t>Every compiled instruction directly manipulates a virtual 2D robot in an interactive web-based simulator.</a:t>
            </a:r>
          </a:p>
          <a:p>
            <a:pPr>
              <a:spcBef>
                <a:spcPts val="1200"/>
              </a:spcBef>
            </a:pPr>
            <a:r>
              <a:rPr b="1" sz="1300">
                <a:solidFill>
                  <a:srgbClr val="34D399"/>
                </a:solidFill>
              </a:rPr>
              <a:t>• Domain-Specific Language (DSL): </a:t>
            </a:r>
            <a:r>
              <a:rPr sz="1300">
                <a:solidFill>
                  <a:srgbClr val="94A3B8"/>
                </a:solidFill>
              </a:rPr>
              <a:t>Designed with clean, intuitive semantics specifically for spatial kinematics and path control.</a:t>
            </a:r>
          </a:p>
          <a:p>
            <a:pPr>
              <a:spcBef>
                <a:spcPts val="1200"/>
              </a:spcBef>
            </a:pPr>
            <a:r>
              <a:rPr b="1" sz="1300">
                <a:solidFill>
                  <a:srgbClr val="34D399"/>
                </a:solidFill>
              </a:rPr>
              <a:t>• Multi-Tier Architecture: </a:t>
            </a:r>
            <a:r>
              <a:rPr sz="1300">
                <a:solidFill>
                  <a:srgbClr val="94A3B8"/>
                </a:solidFill>
              </a:rPr>
              <a:t>Combines a Python compilation engine, FastAPI REST backend, and HTML5 Canvas IDE with dark mode.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1000" b="1">
                <a:solidFill>
                  <a:srgbClr val="38BDF8"/>
                </a:solidFill>
                <a:latin typeface="Segoe UI"/>
              </a:defRPr>
            </a:pPr>
            <a:r>
              <a:t>SYSTEM ARCHITECTURE</a:t>
            </a:r>
          </a:p>
        </p:txBody>
      </p:sp>
      <p:sp>
        <p:nvSpPr>
          <p:cNvPr id="4" name="TextBox 3"/>
          <p:cNvSpPr txBox="1"/>
          <p:nvPr/>
        </p:nvSpPr>
        <p:spPr>
          <a:xfrm>
            <a:off x="731520" y="777240"/>
            <a:ext cx="10698480" cy="640080"/>
          </a:xfrm>
          <a:prstGeom prst="rect">
            <a:avLst/>
          </a:prstGeom>
          <a:noFill/>
        </p:spPr>
        <p:txBody>
          <a:bodyPr wrap="square" lIns="0" tIns="0">
            <a:spAutoFit/>
          </a:bodyPr>
          <a:lstStyle/>
          <a:p>
            <a:pPr>
              <a:defRPr sz="2600" b="1">
                <a:solidFill>
                  <a:srgbClr val="F8FAFC"/>
                </a:solidFill>
                <a:latin typeface="Segoe UI"/>
              </a:defRPr>
            </a:pPr>
            <a:r>
              <a:t>The Complete 7-Stage Compilation Pipeline</a:t>
            </a:r>
          </a:p>
          <a:p>
            <a:pPr>
              <a:spcBef>
                <a:spcPts val="400"/>
              </a:spcBef>
              <a:defRPr sz="1300">
                <a:solidFill>
                  <a:srgbClr val="94A3B8"/>
                </a:solidFill>
                <a:latin typeface="Segoe UI"/>
              </a:defRPr>
            </a:pPr>
            <a:r>
              <a:t>Sequential transformation from human-readable RoboLang code to simulated robot physics</a:t>
            </a:r>
          </a:p>
        </p:txBody>
      </p:sp>
      <p:sp>
        <p:nvSpPr>
          <p:cNvPr id="5" name="Rounded Rectangle 4"/>
          <p:cNvSpPr/>
          <p:nvPr/>
        </p:nvSpPr>
        <p:spPr>
          <a:xfrm>
            <a:off x="731520" y="1828800"/>
            <a:ext cx="1371600" cy="2011680"/>
          </a:xfrm>
          <a:prstGeom prst="roundRect">
            <a:avLst/>
          </a:prstGeom>
          <a:solidFill>
            <a:srgbClr val="1E293B"/>
          </a:solidFill>
          <a:ln w="1905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tIns="182880"/>
          <a:lstStyle/>
          <a:p>
            <a:pPr algn="ctr">
              <a:defRPr sz="1300" b="1">
                <a:solidFill>
                  <a:srgbClr val="60A5FA"/>
                </a:solidFill>
                <a:latin typeface="Segoe UI"/>
              </a:defRPr>
            </a:pPr>
            <a:r>
              <a:t>1. Source Code</a:t>
            </a:r>
          </a:p>
          <a:p>
            <a:pPr algn="ctr">
              <a:spcBef>
                <a:spcPts val="1400"/>
              </a:spcBef>
              <a:defRPr sz="1100">
                <a:solidFill>
                  <a:srgbClr val="94A3B8"/>
                </a:solidFill>
                <a:latin typeface="Segoe UI"/>
              </a:defRPr>
            </a:pPr>
            <a:r>
              <a:t>RoboLang Script</a:t>
            </a:r>
            <a:br/>
            <a:r>
              <a:t>START...STOP</a:t>
            </a:r>
          </a:p>
        </p:txBody>
      </p:sp>
      <p:sp>
        <p:nvSpPr>
          <p:cNvPr id="6" name="Rounded Rectangle 5"/>
          <p:cNvSpPr/>
          <p:nvPr/>
        </p:nvSpPr>
        <p:spPr>
          <a:xfrm>
            <a:off x="2286000" y="1828800"/>
            <a:ext cx="1371600" cy="20116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182880"/>
          <a:lstStyle/>
          <a:p>
            <a:pPr algn="ctr">
              <a:defRPr sz="1300" b="1">
                <a:solidFill>
                  <a:srgbClr val="38BDF8"/>
                </a:solidFill>
                <a:latin typeface="Segoe UI"/>
              </a:defRPr>
            </a:pPr>
            <a:r>
              <a:t>2. Lexer</a:t>
            </a:r>
          </a:p>
          <a:p>
            <a:pPr algn="ctr">
              <a:spcBef>
                <a:spcPts val="1400"/>
              </a:spcBef>
              <a:defRPr sz="1100">
                <a:solidFill>
                  <a:srgbClr val="94A3B8"/>
                </a:solidFill>
                <a:latin typeface="Segoe UI"/>
              </a:defRPr>
            </a:pPr>
            <a:r>
              <a:t>Token Stream</a:t>
            </a:r>
            <a:br/>
            <a:r>
              <a:t>MOVE, INT, TURN</a:t>
            </a:r>
          </a:p>
        </p:txBody>
      </p:sp>
      <p:sp>
        <p:nvSpPr>
          <p:cNvPr id="7" name="Rounded Rectangle 6"/>
          <p:cNvSpPr/>
          <p:nvPr/>
        </p:nvSpPr>
        <p:spPr>
          <a:xfrm>
            <a:off x="3840480" y="1828800"/>
            <a:ext cx="1371600" cy="20116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tIns="182880"/>
          <a:lstStyle/>
          <a:p>
            <a:pPr algn="ctr">
              <a:defRPr sz="1300" b="1">
                <a:solidFill>
                  <a:srgbClr val="34D399"/>
                </a:solidFill>
                <a:latin typeface="Segoe UI"/>
              </a:defRPr>
            </a:pPr>
            <a:r>
              <a:t>3. Parser</a:t>
            </a:r>
          </a:p>
          <a:p>
            <a:pPr algn="ctr">
              <a:spcBef>
                <a:spcPts val="1400"/>
              </a:spcBef>
              <a:defRPr sz="1100">
                <a:solidFill>
                  <a:srgbClr val="94A3B8"/>
                </a:solidFill>
                <a:latin typeface="Segoe UI"/>
              </a:defRPr>
            </a:pPr>
            <a:r>
              <a:t>Recursive Descent</a:t>
            </a:r>
            <a:br/>
            <a:r>
              <a:t>AST Generation</a:t>
            </a:r>
          </a:p>
        </p:txBody>
      </p:sp>
      <p:sp>
        <p:nvSpPr>
          <p:cNvPr id="8" name="Rounded Rectangle 7"/>
          <p:cNvSpPr/>
          <p:nvPr/>
        </p:nvSpPr>
        <p:spPr>
          <a:xfrm>
            <a:off x="5394960" y="1828800"/>
            <a:ext cx="1371600" cy="2011680"/>
          </a:xfrm>
          <a:prstGeom prst="roundRect">
            <a:avLst/>
          </a:prstGeom>
          <a:solidFill>
            <a:srgbClr val="1E293B"/>
          </a:solidFill>
          <a:ln w="1905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tIns="182880"/>
          <a:lstStyle/>
          <a:p>
            <a:pPr algn="ctr">
              <a:defRPr sz="1300" b="1">
                <a:solidFill>
                  <a:srgbClr val="FBBF24"/>
                </a:solidFill>
                <a:latin typeface="Segoe UI"/>
              </a:defRPr>
            </a:pPr>
            <a:r>
              <a:t>4. Semantic</a:t>
            </a:r>
          </a:p>
          <a:p>
            <a:pPr algn="ctr">
              <a:spcBef>
                <a:spcPts val="1400"/>
              </a:spcBef>
              <a:defRPr sz="1100">
                <a:solidFill>
                  <a:srgbClr val="94A3B8"/>
                </a:solidFill>
                <a:latin typeface="Segoe UI"/>
              </a:defRPr>
            </a:pPr>
            <a:r>
              <a:t>Safety Checks</a:t>
            </a:r>
            <a:br/>
            <a:r>
              <a:t>Bounds &amp; Direction</a:t>
            </a:r>
          </a:p>
        </p:txBody>
      </p:sp>
      <p:sp>
        <p:nvSpPr>
          <p:cNvPr id="9" name="Rounded Rectangle 8"/>
          <p:cNvSpPr/>
          <p:nvPr/>
        </p:nvSpPr>
        <p:spPr>
          <a:xfrm>
            <a:off x="6949440" y="1828800"/>
            <a:ext cx="1371600" cy="2011680"/>
          </a:xfrm>
          <a:prstGeom prst="roundRect">
            <a:avLst/>
          </a:prstGeom>
          <a:solidFill>
            <a:srgbClr val="1E293B"/>
          </a:solidFill>
          <a:ln w="1905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tIns="182880"/>
          <a:lstStyle/>
          <a:p>
            <a:pPr algn="ctr">
              <a:defRPr sz="1300" b="1">
                <a:solidFill>
                  <a:srgbClr val="60A5FA"/>
                </a:solidFill>
                <a:latin typeface="Segoe UI"/>
              </a:defRPr>
            </a:pPr>
            <a:r>
              <a:t>5. IR Generator</a:t>
            </a:r>
          </a:p>
          <a:p>
            <a:pPr algn="ctr">
              <a:spcBef>
                <a:spcPts val="1400"/>
              </a:spcBef>
              <a:defRPr sz="1100">
                <a:solidFill>
                  <a:srgbClr val="94A3B8"/>
                </a:solidFill>
                <a:latin typeface="Segoe UI"/>
              </a:defRPr>
            </a:pPr>
            <a:r>
              <a:t>Machine-agnostic</a:t>
            </a:r>
            <a:br/>
            <a:r>
              <a:t>Linear Instructions</a:t>
            </a:r>
          </a:p>
        </p:txBody>
      </p:sp>
      <p:sp>
        <p:nvSpPr>
          <p:cNvPr id="10" name="Rounded Rectangle 9"/>
          <p:cNvSpPr/>
          <p:nvPr/>
        </p:nvSpPr>
        <p:spPr>
          <a:xfrm>
            <a:off x="8503920" y="1828800"/>
            <a:ext cx="1371600" cy="2011680"/>
          </a:xfrm>
          <a:prstGeom prst="roundRect">
            <a:avLst/>
          </a:prstGeom>
          <a:solidFill>
            <a:srgbClr val="1E293B"/>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182880"/>
          <a:lstStyle/>
          <a:p>
            <a:pPr algn="ctr">
              <a:defRPr sz="1300" b="1">
                <a:solidFill>
                  <a:srgbClr val="38BDF8"/>
                </a:solidFill>
                <a:latin typeface="Segoe UI"/>
              </a:defRPr>
            </a:pPr>
            <a:r>
              <a:t>6. Code Gen</a:t>
            </a:r>
          </a:p>
          <a:p>
            <a:pPr algn="ctr">
              <a:spcBef>
                <a:spcPts val="1400"/>
              </a:spcBef>
              <a:defRPr sz="1100">
                <a:solidFill>
                  <a:srgbClr val="94A3B8"/>
                </a:solidFill>
                <a:latin typeface="Segoe UI"/>
              </a:defRPr>
            </a:pPr>
            <a:r>
              <a:t>Opcode Synthesis</a:t>
            </a:r>
            <a:br/>
            <a:r>
              <a:t>Compact Bytecode</a:t>
            </a:r>
          </a:p>
        </p:txBody>
      </p:sp>
      <p:sp>
        <p:nvSpPr>
          <p:cNvPr id="11" name="Rounded Rectangle 10"/>
          <p:cNvSpPr/>
          <p:nvPr/>
        </p:nvSpPr>
        <p:spPr>
          <a:xfrm>
            <a:off x="10058400" y="1828800"/>
            <a:ext cx="1371600" cy="2011680"/>
          </a:xfrm>
          <a:prstGeom prst="roundRect">
            <a:avLst/>
          </a:prstGeom>
          <a:solidFill>
            <a:srgbClr val="1E293B"/>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tIns="182880"/>
          <a:lstStyle/>
          <a:p>
            <a:pPr algn="ctr">
              <a:defRPr sz="1300" b="1">
                <a:solidFill>
                  <a:srgbClr val="34D399"/>
                </a:solidFill>
                <a:latin typeface="Segoe UI"/>
              </a:defRPr>
            </a:pPr>
            <a:r>
              <a:t>7. VM &amp; Sim</a:t>
            </a:r>
          </a:p>
          <a:p>
            <a:pPr algn="ctr">
              <a:spcBef>
                <a:spcPts val="1400"/>
              </a:spcBef>
              <a:defRPr sz="1100">
                <a:solidFill>
                  <a:srgbClr val="94A3B8"/>
                </a:solidFill>
                <a:latin typeface="Segoe UI"/>
              </a:defRPr>
            </a:pPr>
            <a:r>
              <a:t>Robot State Engine</a:t>
            </a:r>
            <a:br/>
            <a:r>
              <a:t>2D Canvas Visuals</a:t>
            </a:r>
          </a:p>
        </p:txBody>
      </p:sp>
      <p:sp>
        <p:nvSpPr>
          <p:cNvPr id="12" name="Rounded Rectangle 11"/>
          <p:cNvSpPr/>
          <p:nvPr/>
        </p:nvSpPr>
        <p:spPr>
          <a:xfrm>
            <a:off x="731520" y="4114800"/>
            <a:ext cx="10698480" cy="210312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Pipeline Highlights &amp; Data Flow</a:t>
            </a:r>
          </a:p>
          <a:p>
            <a:pPr>
              <a:spcBef>
                <a:spcPts val="600"/>
              </a:spcBef>
            </a:pPr>
            <a:r>
              <a:rPr b="1" sz="1300">
                <a:solidFill>
                  <a:srgbClr val="38BDF8"/>
                </a:solidFill>
              </a:rPr>
              <a:t>✓ Strict Phase Decoupling: </a:t>
            </a:r>
            <a:r>
              <a:rPr sz="1300">
                <a:solidFill>
                  <a:srgbClr val="94A3B8"/>
                </a:solidFill>
              </a:rPr>
              <a:t>Each stage operates as an independent module with clean input/output contracts (e.g., Tokens -&gt; AST -&gt; IR -&gt; Bytecode).</a:t>
            </a:r>
          </a:p>
          <a:p>
            <a:pPr>
              <a:spcBef>
                <a:spcPts val="600"/>
              </a:spcBef>
            </a:pPr>
            <a:r>
              <a:rPr b="1" sz="1300">
                <a:solidFill>
                  <a:srgbClr val="38BDF8"/>
                </a:solidFill>
              </a:rPr>
              <a:t>✓ Defensive Validation: </a:t>
            </a:r>
            <a:r>
              <a:rPr sz="1300">
                <a:solidFill>
                  <a:srgbClr val="94A3B8"/>
                </a:solidFill>
              </a:rPr>
              <a:t>Malformed syntax is intercepted at Parse-time; illegal coordinates and directions are caught in the Semantic Analyzer before code generation.</a:t>
            </a:r>
          </a:p>
          <a:p>
            <a:pPr>
              <a:spcBef>
                <a:spcPts val="600"/>
              </a:spcBef>
            </a:pPr>
            <a:r>
              <a:rPr b="1" sz="1300">
                <a:solidFill>
                  <a:srgbClr val="38BDF8"/>
                </a:solidFill>
              </a:rPr>
              <a:t>✓ Execution Integrity: </a:t>
            </a:r>
            <a:r>
              <a:rPr sz="1300">
                <a:solidFill>
                  <a:srgbClr val="94A3B8"/>
                </a:solidFill>
              </a:rPr>
              <a:t>The backend exposes stage-by-stage results allowing the frontend IDE to display inspection diagnostics for educational inspection.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1000" b="1">
                <a:solidFill>
                  <a:srgbClr val="38BDF8"/>
                </a:solidFill>
                <a:latin typeface="Segoe UI"/>
              </a:defRPr>
            </a:pPr>
            <a:r>
              <a:t>COMPILER PHASE 1</a:t>
            </a:r>
          </a:p>
        </p:txBody>
      </p:sp>
      <p:sp>
        <p:nvSpPr>
          <p:cNvPr id="4" name="TextBox 3"/>
          <p:cNvSpPr txBox="1"/>
          <p:nvPr/>
        </p:nvSpPr>
        <p:spPr>
          <a:xfrm>
            <a:off x="731520" y="777240"/>
            <a:ext cx="10698480" cy="640080"/>
          </a:xfrm>
          <a:prstGeom prst="rect">
            <a:avLst/>
          </a:prstGeom>
          <a:noFill/>
        </p:spPr>
        <p:txBody>
          <a:bodyPr wrap="square" lIns="0" tIns="0">
            <a:spAutoFit/>
          </a:bodyPr>
          <a:lstStyle/>
          <a:p>
            <a:pPr>
              <a:defRPr sz="2600" b="1">
                <a:solidFill>
                  <a:srgbClr val="F8FAFC"/>
                </a:solidFill>
                <a:latin typeface="Segoe UI"/>
              </a:defRPr>
            </a:pPr>
            <a:r>
              <a:t>Lexical Analysis: Tokenizing Source Code</a:t>
            </a:r>
          </a:p>
          <a:p>
            <a:pPr>
              <a:spcBef>
                <a:spcPts val="400"/>
              </a:spcBef>
              <a:defRPr sz="1300">
                <a:solidFill>
                  <a:srgbClr val="94A3B8"/>
                </a:solidFill>
                <a:latin typeface="Segoe UI"/>
              </a:defRPr>
            </a:pPr>
            <a:r>
              <a:t>Scanning character streams into categorized tokens with position tracking (lexer.py)</a:t>
            </a:r>
          </a:p>
        </p:txBody>
      </p:sp>
      <p:sp>
        <p:nvSpPr>
          <p:cNvPr id="5" name="Rounded Rectangle 4"/>
          <p:cNvSpPr/>
          <p:nvPr/>
        </p:nvSpPr>
        <p:spPr>
          <a:xfrm>
            <a:off x="731520" y="1645920"/>
            <a:ext cx="548640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Lexer Design &amp; Token Specification</a:t>
            </a:r>
          </a:p>
          <a:p>
            <a:pPr>
              <a:spcBef>
                <a:spcPts val="1200"/>
              </a:spcBef>
            </a:pPr>
            <a:r>
              <a:rPr b="1" sz="1300">
                <a:solidFill>
                  <a:srgbClr val="60A5FA"/>
                </a:solidFill>
              </a:rPr>
              <a:t>• Regular Expression Matching: </a:t>
            </a:r>
            <a:r>
              <a:rPr sz="1300">
                <a:solidFill>
                  <a:srgbClr val="94A3B8"/>
                </a:solidFill>
              </a:rPr>
              <a:t>Converts raw characters into discrete symbolic tokens using deterministic regex patterns.</a:t>
            </a:r>
          </a:p>
          <a:p>
            <a:pPr>
              <a:spcBef>
                <a:spcPts val="1200"/>
              </a:spcBef>
            </a:pPr>
            <a:r>
              <a:rPr b="1" sz="1300">
                <a:solidFill>
                  <a:srgbClr val="60A5FA"/>
                </a:solidFill>
              </a:rPr>
              <a:t>• Token Catalog: </a:t>
            </a:r>
            <a:r>
              <a:rPr sz="1300">
                <a:solidFill>
                  <a:srgbClr val="94A3B8"/>
                </a:solidFill>
              </a:rPr>
              <a:t>Recognizes keywords (START, STOP, MOVE, TURN), direction identifiers (LEFT, RIGHT), integer literals, and newlines.</a:t>
            </a:r>
          </a:p>
          <a:p>
            <a:pPr>
              <a:spcBef>
                <a:spcPts val="1200"/>
              </a:spcBef>
            </a:pPr>
            <a:r>
              <a:rPr b="1" sz="1300">
                <a:solidFill>
                  <a:srgbClr val="60A5FA"/>
                </a:solidFill>
              </a:rPr>
              <a:t>• Position &amp; Line Tracking: </a:t>
            </a:r>
            <a:r>
              <a:rPr sz="1300">
                <a:solidFill>
                  <a:srgbClr val="94A3B8"/>
                </a:solidFill>
              </a:rPr>
              <a:t>Maintains exact line and column coordinates on each token to enable rich error diagnostics.</a:t>
            </a:r>
          </a:p>
          <a:p>
            <a:pPr>
              <a:spcBef>
                <a:spcPts val="1200"/>
              </a:spcBef>
            </a:pPr>
            <a:r>
              <a:rPr b="1" sz="1300">
                <a:solidFill>
                  <a:srgbClr val="60A5FA"/>
                </a:solidFill>
              </a:rPr>
              <a:t>• Noise Filtering: </a:t>
            </a:r>
            <a:r>
              <a:rPr sz="1300">
                <a:solidFill>
                  <a:srgbClr val="94A3B8"/>
                </a:solidFill>
              </a:rPr>
              <a:t>Automatically strips whitespace, tabs, and comments (# ...) while preserving structural newlines.</a:t>
            </a:r>
          </a:p>
        </p:txBody>
      </p:sp>
      <p:sp>
        <p:nvSpPr>
          <p:cNvPr id="6" name="Rounded Rectangle 5"/>
          <p:cNvSpPr/>
          <p:nvPr/>
        </p:nvSpPr>
        <p:spPr>
          <a:xfrm>
            <a:off x="6492240" y="1645920"/>
            <a:ext cx="493776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Source Code vs. Token Stream</a:t>
            </a:r>
          </a:p>
          <a:p>
            <a:pPr>
              <a:defRPr b="1" sz="1300">
                <a:solidFill>
                  <a:srgbClr val="38BDF8"/>
                </a:solidFill>
              </a:defRPr>
            </a:pPr>
            <a:r>
              <a:t>Source Code Input:</a:t>
            </a:r>
          </a:p>
          <a:p>
            <a:pPr>
              <a:spcBef>
                <a:spcPts val="400"/>
              </a:spcBef>
              <a:defRPr sz="1200">
                <a:solidFill>
                  <a:srgbClr val="A5F3FC"/>
                </a:solidFill>
                <a:latin typeface="Consolas"/>
              </a:defRPr>
            </a:pPr>
            <a:r>
              <a:t>START</a:t>
            </a:r>
            <a:br/>
            <a:r>
              <a:t>MOVE 100</a:t>
            </a:r>
            <a:br/>
            <a:r>
              <a:t>TURN RIGHT</a:t>
            </a:r>
            <a:br/>
            <a:r>
              <a:t>MOVE 50</a:t>
            </a:r>
            <a:br/>
            <a:r>
              <a:t>STOP</a:t>
            </a:r>
          </a:p>
          <a:p>
            <a:pPr>
              <a:spcBef>
                <a:spcPts val="1200"/>
              </a:spcBef>
              <a:defRPr b="1" sz="1300">
                <a:solidFill>
                  <a:srgbClr val="34D399"/>
                </a:solidFill>
              </a:defRPr>
            </a:pPr>
            <a:r>
              <a:t>Generated Token Stream:</a:t>
            </a:r>
          </a:p>
          <a:p>
            <a:pPr>
              <a:spcBef>
                <a:spcPts val="400"/>
              </a:spcBef>
              <a:defRPr sz="1100">
                <a:solidFill>
                  <a:srgbClr val="A5F3FC"/>
                </a:solidFill>
                <a:latin typeface="Consolas"/>
              </a:defRPr>
            </a:pPr>
            <a:r>
              <a:t>Token(KEYWORD, 'START', line=1)</a:t>
            </a:r>
            <a:br/>
            <a:r>
              <a:t>Token(COMMAND, 'MOVE', line=2)</a:t>
            </a:r>
            <a:br/>
            <a:r>
              <a:t>Token(NUMBER, 100, line=2)</a:t>
            </a:r>
            <a:br/>
            <a:r>
              <a:t>Token(COMMAND, 'TURN', line=3)</a:t>
            </a:r>
            <a:br/>
            <a:r>
              <a:t>Token(DIRECTION, 'RIGHT', line=3)</a:t>
            </a:r>
            <a:br/>
            <a:r>
              <a:t>Token(COMMAND, 'MOVE', line=4)</a:t>
            </a:r>
            <a:br/>
            <a:r>
              <a:t>Token(NUMBER, 50, line=4)</a:t>
            </a:r>
            <a:br/>
            <a:r>
              <a:t>Token(KEYWORD, 'STOP', line=5)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1000" b="1">
                <a:solidFill>
                  <a:srgbClr val="38BDF8"/>
                </a:solidFill>
                <a:latin typeface="Segoe UI"/>
              </a:defRPr>
            </a:pPr>
            <a:r>
              <a:t>COMPILER PHASES 2 &amp; 3</a:t>
            </a:r>
          </a:p>
        </p:txBody>
      </p:sp>
      <p:sp>
        <p:nvSpPr>
          <p:cNvPr id="4" name="TextBox 3"/>
          <p:cNvSpPr txBox="1"/>
          <p:nvPr/>
        </p:nvSpPr>
        <p:spPr>
          <a:xfrm>
            <a:off x="731520" y="777240"/>
            <a:ext cx="10698480" cy="640080"/>
          </a:xfrm>
          <a:prstGeom prst="rect">
            <a:avLst/>
          </a:prstGeom>
          <a:noFill/>
        </p:spPr>
        <p:txBody>
          <a:bodyPr wrap="square" lIns="0" tIns="0">
            <a:spAutoFit/>
          </a:bodyPr>
          <a:lstStyle/>
          <a:p>
            <a:pPr>
              <a:defRPr sz="2600" b="1">
                <a:solidFill>
                  <a:srgbClr val="F8FAFC"/>
                </a:solidFill>
                <a:latin typeface="Segoe UI"/>
              </a:defRPr>
            </a:pPr>
            <a:r>
              <a:t>Syntax Analysis &amp; AST Construction</a:t>
            </a:r>
          </a:p>
          <a:p>
            <a:pPr>
              <a:spcBef>
                <a:spcPts val="400"/>
              </a:spcBef>
              <a:defRPr sz="1300">
                <a:solidFill>
                  <a:srgbClr val="94A3B8"/>
                </a:solidFill>
                <a:latin typeface="Segoe UI"/>
              </a:defRPr>
            </a:pPr>
            <a:r>
              <a:t>Grammar enforcement and hierarchical Abstract Syntax Tree generation (parser.py, ast.py)</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Recursive Descent Parser</a:t>
            </a:r>
          </a:p>
          <a:p>
            <a:pPr>
              <a:spcBef>
                <a:spcPts val="1000"/>
              </a:spcBef>
            </a:pPr>
            <a:r>
              <a:rPr b="1" sz="1300">
                <a:solidFill>
                  <a:srgbClr val="60A5FA"/>
                </a:solidFill>
              </a:rPr>
              <a:t>• Context-Free Grammar: </a:t>
            </a:r>
            <a:r>
              <a:rPr sz="1300">
                <a:solidFill>
                  <a:srgbClr val="94A3B8"/>
                </a:solidFill>
              </a:rPr>
              <a:t>Grammar rules dictate program enclosure: program := START statement* STOP.</a:t>
            </a:r>
          </a:p>
          <a:p>
            <a:pPr>
              <a:spcBef>
                <a:spcPts val="1000"/>
              </a:spcBef>
            </a:pPr>
            <a:r>
              <a:rPr b="1" sz="1300">
                <a:solidFill>
                  <a:srgbClr val="60A5FA"/>
                </a:solidFill>
              </a:rPr>
              <a:t>• Deterministic Lookahead: </a:t>
            </a:r>
            <a:r>
              <a:rPr sz="1300">
                <a:solidFill>
                  <a:srgbClr val="94A3B8"/>
                </a:solidFill>
              </a:rPr>
              <a:t>LL(1) style recursive descent parser inspects the current token and dispatches command parsers.</a:t>
            </a:r>
          </a:p>
          <a:p>
            <a:pPr>
              <a:spcBef>
                <a:spcPts val="1000"/>
              </a:spcBef>
            </a:pPr>
            <a:r>
              <a:rPr b="1" sz="1300">
                <a:solidFill>
                  <a:srgbClr val="60A5FA"/>
                </a:solidFill>
              </a:rPr>
              <a:t>• Syntax Error Detection: </a:t>
            </a:r>
            <a:r>
              <a:rPr sz="1300">
                <a:solidFill>
                  <a:srgbClr val="94A3B8"/>
                </a:solidFill>
              </a:rPr>
              <a:t>Catches unexpected tokens, missing distance arguments, unclosed programs, and illegal identifiers.</a:t>
            </a:r>
          </a:p>
          <a:p>
            <a:pPr>
              <a:spcBef>
                <a:spcPts val="1000"/>
              </a:spcBef>
            </a:pPr>
            <a:r>
              <a:rPr b="1" sz="1300">
                <a:solidFill>
                  <a:srgbClr val="60A5FA"/>
                </a:solidFill>
              </a:rPr>
              <a:t>• Safe Recovery: </a:t>
            </a:r>
            <a:r>
              <a:rPr sz="1300">
                <a:solidFill>
                  <a:srgbClr val="94A3B8"/>
                </a:solidFill>
              </a:rPr>
              <a:t>Raises structured SyntaxError instances with line numbers to prevent cascading failures.</a:t>
            </a:r>
          </a:p>
        </p:txBody>
      </p:sp>
      <p:sp>
        <p:nvSpPr>
          <p:cNvPr id="6" name="Rounded Rectangle 5"/>
          <p:cNvSpPr/>
          <p:nvPr/>
        </p:nvSpPr>
        <p:spPr>
          <a:xfrm>
            <a:off x="6126480" y="1645920"/>
            <a:ext cx="53035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Abstract Syntax Tree (AST) Hierarchy</a:t>
            </a:r>
          </a:p>
          <a:p>
            <a:pPr>
              <a:defRPr b="1" sz="1300">
                <a:solidFill>
                  <a:srgbClr val="38BDF8"/>
                </a:solidFill>
              </a:defRPr>
            </a:pPr>
            <a:r>
              <a:t>Python Dataclass AST Representation:</a:t>
            </a:r>
          </a:p>
          <a:p>
            <a:pPr>
              <a:spcBef>
                <a:spcPts val="400"/>
              </a:spcBef>
              <a:defRPr sz="1200">
                <a:solidFill>
                  <a:srgbClr val="A5F3FC"/>
                </a:solidFill>
                <a:latin typeface="Consolas"/>
              </a:defRPr>
            </a:pPr>
            <a:r>
              <a:t>Program(</a:t>
            </a:r>
            <a:br/>
            <a:r>
              <a:t>  statements=[</a:t>
            </a:r>
            <a:br/>
            <a:r>
              <a:t>    MoveCommand(distance=100, line=2),</a:t>
            </a:r>
            <a:br/>
            <a:r>
              <a:t>    TurnCommand(direction='RIGHT', line=3),</a:t>
            </a:r>
            <a:br/>
            <a:r>
              <a:t>    MoveCommand(distance=50, line=4)</a:t>
            </a:r>
            <a:br/>
            <a:r>
              <a:t>  ]</a:t>
            </a:r>
            <a:br/>
            <a:r>
              <a:t>)</a:t>
            </a:r>
          </a:p>
          <a:p>
            <a:pPr>
              <a:spcBef>
                <a:spcPts val="1400"/>
              </a:spcBef>
              <a:defRPr b="1" sz="1300">
                <a:solidFill>
                  <a:srgbClr val="34D399"/>
                </a:solidFill>
              </a:defRPr>
            </a:pPr>
            <a:r>
              <a:t>Key Design Patterns in ast.py:</a:t>
            </a:r>
          </a:p>
          <a:p>
            <a:pPr>
              <a:spcBef>
                <a:spcPts val="600"/>
              </a:spcBef>
            </a:pPr>
            <a:r>
              <a:rPr b="1" sz="1200">
                <a:solidFill>
                  <a:srgbClr val="34D399"/>
                </a:solidFill>
              </a:rPr>
              <a:t>✓ Type Safety: </a:t>
            </a:r>
            <a:r>
              <a:rPr sz="1200">
                <a:solidFill>
                  <a:srgbClr val="94A3B8"/>
                </a:solidFill>
              </a:rPr>
              <a:t>Built with Python dataclasses for lightweight, immutable node structures.</a:t>
            </a:r>
          </a:p>
          <a:p>
            <a:pPr>
              <a:spcBef>
                <a:spcPts val="600"/>
              </a:spcBef>
            </a:pPr>
            <a:r>
              <a:rPr b="1" sz="1200">
                <a:solidFill>
                  <a:srgbClr val="34D399"/>
                </a:solidFill>
              </a:rPr>
              <a:t>✓ JSON Serialization: </a:t>
            </a:r>
            <a:r>
              <a:rPr sz="1200">
                <a:solidFill>
                  <a:srgbClr val="94A3B8"/>
                </a:solidFill>
              </a:rPr>
              <a:t>Implements .to_dict() methods enabling effortless serialization to the web frontend.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1000" b="1">
                <a:solidFill>
                  <a:srgbClr val="38BDF8"/>
                </a:solidFill>
                <a:latin typeface="Segoe UI"/>
              </a:defRPr>
            </a:pPr>
            <a:r>
              <a:t>COMPILER PHASE 4</a:t>
            </a:r>
          </a:p>
        </p:txBody>
      </p:sp>
      <p:sp>
        <p:nvSpPr>
          <p:cNvPr id="4" name="TextBox 3"/>
          <p:cNvSpPr txBox="1"/>
          <p:nvPr/>
        </p:nvSpPr>
        <p:spPr>
          <a:xfrm>
            <a:off x="731520" y="777240"/>
            <a:ext cx="10698480" cy="640080"/>
          </a:xfrm>
          <a:prstGeom prst="rect">
            <a:avLst/>
          </a:prstGeom>
          <a:noFill/>
        </p:spPr>
        <p:txBody>
          <a:bodyPr wrap="square" lIns="0" tIns="0">
            <a:spAutoFit/>
          </a:bodyPr>
          <a:lstStyle/>
          <a:p>
            <a:pPr>
              <a:defRPr sz="2600" b="1">
                <a:solidFill>
                  <a:srgbClr val="F8FAFC"/>
                </a:solidFill>
                <a:latin typeface="Segoe UI"/>
              </a:defRPr>
            </a:pPr>
            <a:r>
              <a:t>Semantic Analysis: Context &amp; Validation</a:t>
            </a:r>
          </a:p>
          <a:p>
            <a:pPr>
              <a:spcBef>
                <a:spcPts val="400"/>
              </a:spcBef>
              <a:defRPr sz="1300">
                <a:solidFill>
                  <a:srgbClr val="94A3B8"/>
                </a:solidFill>
                <a:latin typeface="Segoe UI"/>
              </a:defRPr>
            </a:pPr>
            <a:r>
              <a:t>Validating program semantics beyond grammatical correctness (compiler/semantic.py)</a:t>
            </a:r>
          </a:p>
        </p:txBody>
      </p:sp>
      <p:sp>
        <p:nvSpPr>
          <p:cNvPr id="5" name="Rounded Rectangle 4"/>
          <p:cNvSpPr/>
          <p:nvPr/>
        </p:nvSpPr>
        <p:spPr>
          <a:xfrm>
            <a:off x="731520" y="1645920"/>
            <a:ext cx="5120640" cy="457200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Semantic Rules &amp; Constraints</a:t>
            </a:r>
          </a:p>
          <a:p>
            <a:pPr>
              <a:spcBef>
                <a:spcPts val="1000"/>
              </a:spcBef>
            </a:pPr>
            <a:r>
              <a:rPr b="1" sz="1300">
                <a:solidFill>
                  <a:srgbClr val="FBBF24"/>
                </a:solidFill>
              </a:rPr>
              <a:t>• Empty Program Guard: </a:t>
            </a:r>
            <a:r>
              <a:rPr sz="1300">
                <a:solidFill>
                  <a:srgbClr val="94A3B8"/>
                </a:solidFill>
              </a:rPr>
              <a:t>Rejects scripts with no actionable statements between START and STOP.</a:t>
            </a:r>
          </a:p>
          <a:p>
            <a:pPr>
              <a:spcBef>
                <a:spcPts val="1000"/>
              </a:spcBef>
            </a:pPr>
            <a:r>
              <a:rPr b="1" sz="1300">
                <a:solidFill>
                  <a:srgbClr val="FBBF24"/>
                </a:solidFill>
              </a:rPr>
              <a:t>• Non-Negative Movement: </a:t>
            </a:r>
            <a:r>
              <a:rPr sz="1300">
                <a:solidFill>
                  <a:srgbClr val="94A3B8"/>
                </a:solidFill>
              </a:rPr>
              <a:t>Ensures distance values are strictly positive integers (MOVE 0 or negative values are flagged).</a:t>
            </a:r>
          </a:p>
          <a:p>
            <a:pPr>
              <a:spcBef>
                <a:spcPts val="1000"/>
              </a:spcBef>
            </a:pPr>
            <a:r>
              <a:rPr b="1" sz="1300">
                <a:solidFill>
                  <a:srgbClr val="FBBF24"/>
                </a:solidFill>
              </a:rPr>
              <a:t>• Distance Upper Boundaries: </a:t>
            </a:r>
            <a:r>
              <a:rPr sz="1300">
                <a:solidFill>
                  <a:srgbClr val="94A3B8"/>
                </a:solidFill>
              </a:rPr>
              <a:t>Enforces simulation workspace limits (e.g., maximum step constraints) to prevent simulator overflow.</a:t>
            </a:r>
          </a:p>
          <a:p>
            <a:pPr>
              <a:spcBef>
                <a:spcPts val="1000"/>
              </a:spcBef>
            </a:pPr>
            <a:r>
              <a:rPr b="1" sz="1300">
                <a:solidFill>
                  <a:srgbClr val="FBBF24"/>
                </a:solidFill>
              </a:rPr>
              <a:t>• Direction Integrity: </a:t>
            </a:r>
            <a:r>
              <a:rPr sz="1300">
                <a:solidFill>
                  <a:srgbClr val="94A3B8"/>
                </a:solidFill>
              </a:rPr>
              <a:t>Validates turn directives against enumerated valid orientations {'LEFT', 'RIGHT'}.</a:t>
            </a:r>
          </a:p>
          <a:p>
            <a:pPr>
              <a:spcBef>
                <a:spcPts val="1000"/>
              </a:spcBef>
            </a:pPr>
            <a:r>
              <a:rPr b="1" sz="1300">
                <a:solidFill>
                  <a:srgbClr val="FBBF24"/>
                </a:solidFill>
              </a:rPr>
              <a:t>• Comprehensive Reporting: </a:t>
            </a:r>
            <a:r>
              <a:rPr sz="1300">
                <a:solidFill>
                  <a:srgbClr val="94A3B8"/>
                </a:solidFill>
              </a:rPr>
              <a:t>Aggregates all semantic violations in a single pass rather than aborting on the first mistake.</a:t>
            </a:r>
          </a:p>
        </p:txBody>
      </p:sp>
      <p:sp>
        <p:nvSpPr>
          <p:cNvPr id="6" name="Rounded Rectangle 5"/>
          <p:cNvSpPr/>
          <p:nvPr/>
        </p:nvSpPr>
        <p:spPr>
          <a:xfrm>
            <a:off x="6126480" y="1645920"/>
            <a:ext cx="53035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Syntax vs. Semantic Validation</a:t>
            </a:r>
          </a:p>
          <a:p>
            <a:pPr>
              <a:defRPr b="1" sz="1300">
                <a:solidFill>
                  <a:srgbClr val="38BDF8"/>
                </a:solidFill>
              </a:defRPr>
            </a:pPr>
            <a:r>
              <a:t>Example Semantically Invalid Code:</a:t>
            </a:r>
          </a:p>
          <a:p>
            <a:pPr>
              <a:spcBef>
                <a:spcPts val="400"/>
              </a:spcBef>
              <a:defRPr sz="1200">
                <a:solidFill>
                  <a:srgbClr val="A5F3FC"/>
                </a:solidFill>
                <a:latin typeface="Consolas"/>
              </a:defRPr>
            </a:pPr>
            <a:r>
              <a:t>START</a:t>
            </a:r>
            <a:br/>
            <a:r>
              <a:t>MOVE -50        # Grammatically valid integer!</a:t>
            </a:r>
            <a:br/>
            <a:r>
              <a:t>TURN UPWARDS    # Grammatically valid token!</a:t>
            </a:r>
            <a:br/>
            <a:r>
              <a:t>STOP</a:t>
            </a:r>
          </a:p>
          <a:p>
            <a:pPr>
              <a:spcBef>
                <a:spcPts val="1400"/>
              </a:spcBef>
              <a:defRPr b="1" sz="1300">
                <a:solidFill>
                  <a:srgbClr val="34D399"/>
                </a:solidFill>
              </a:defRPr>
            </a:pPr>
            <a:r>
              <a:t>Semantic Analyzer Response:</a:t>
            </a:r>
          </a:p>
          <a:p>
            <a:pPr>
              <a:spcBef>
                <a:spcPts val="400"/>
              </a:spcBef>
              <a:defRPr sz="1100">
                <a:solidFill>
                  <a:srgbClr val="FDA4AF"/>
                </a:solidFill>
                <a:latin typeface="Consolas"/>
              </a:defRPr>
            </a:pPr>
            <a:r>
              <a:t>SemanticError:</a:t>
            </a:r>
            <a:br/>
            <a:r>
              <a:t>  Line 2: Distance must be a positive integer.</a:t>
            </a:r>
            <a:br/>
            <a:r>
              <a:t>  Line 3: Invalid direction 'UPWARDS'.</a:t>
            </a:r>
            <a:br/>
            <a:r>
              <a:t>          Expected LEFT or RIGHT.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1000" b="1">
                <a:solidFill>
                  <a:srgbClr val="38BDF8"/>
                </a:solidFill>
                <a:latin typeface="Segoe UI"/>
              </a:defRPr>
            </a:pPr>
            <a:r>
              <a:t>COMPILER PHASE 5</a:t>
            </a:r>
          </a:p>
        </p:txBody>
      </p:sp>
      <p:sp>
        <p:nvSpPr>
          <p:cNvPr id="4" name="TextBox 3"/>
          <p:cNvSpPr txBox="1"/>
          <p:nvPr/>
        </p:nvSpPr>
        <p:spPr>
          <a:xfrm>
            <a:off x="731520" y="777240"/>
            <a:ext cx="10698480" cy="640080"/>
          </a:xfrm>
          <a:prstGeom prst="rect">
            <a:avLst/>
          </a:prstGeom>
          <a:noFill/>
        </p:spPr>
        <p:txBody>
          <a:bodyPr wrap="square" lIns="0" tIns="0">
            <a:spAutoFit/>
          </a:bodyPr>
          <a:lstStyle/>
          <a:p>
            <a:pPr>
              <a:defRPr sz="2600" b="1">
                <a:solidFill>
                  <a:srgbClr val="F8FAFC"/>
                </a:solidFill>
                <a:latin typeface="Segoe UI"/>
              </a:defRPr>
            </a:pPr>
            <a:r>
              <a:t>Intermediate Representation (IR)</a:t>
            </a:r>
          </a:p>
          <a:p>
            <a:pPr>
              <a:spcBef>
                <a:spcPts val="400"/>
              </a:spcBef>
              <a:defRPr sz="1300">
                <a:solidFill>
                  <a:srgbClr val="94A3B8"/>
                </a:solidFill>
                <a:latin typeface="Segoe UI"/>
              </a:defRPr>
            </a:pPr>
            <a:r>
              <a:t>Decoupling language syntax from hardware target architecture (compiler/ir.py)</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The Role of IR in Modern Compilers</a:t>
            </a:r>
          </a:p>
          <a:p>
            <a:pPr>
              <a:spcBef>
                <a:spcPts val="1200"/>
              </a:spcBef>
            </a:pPr>
            <a:r>
              <a:rPr b="1" sz="1300">
                <a:solidFill>
                  <a:srgbClr val="60A5FA"/>
                </a:solidFill>
              </a:rPr>
              <a:t>• Hardware Abstraction: </a:t>
            </a:r>
            <a:r>
              <a:rPr sz="1300">
                <a:solidFill>
                  <a:srgbClr val="94A3B8"/>
                </a:solidFill>
              </a:rPr>
              <a:t>Eliminates high-level AST overhead while avoiding low-level machine dependencies.</a:t>
            </a:r>
          </a:p>
          <a:p>
            <a:pPr>
              <a:spcBef>
                <a:spcPts val="1200"/>
              </a:spcBef>
            </a:pPr>
            <a:r>
              <a:rPr b="1" sz="1300">
                <a:solidFill>
                  <a:srgbClr val="60A5FA"/>
                </a:solidFill>
              </a:rPr>
              <a:t>• Linear Instruction Sequence: </a:t>
            </a:r>
            <a:r>
              <a:rPr sz="1300">
                <a:solidFill>
                  <a:srgbClr val="94A3B8"/>
                </a:solidFill>
              </a:rPr>
              <a:t>Flattens tree structures into an executable sequential stream of 3AC-inspired operations.</a:t>
            </a:r>
          </a:p>
          <a:p>
            <a:pPr>
              <a:spcBef>
                <a:spcPts val="1200"/>
              </a:spcBef>
            </a:pPr>
            <a:r>
              <a:rPr b="1" sz="1300">
                <a:solidFill>
                  <a:srgbClr val="60A5FA"/>
                </a:solidFill>
              </a:rPr>
              <a:t>• Optimization Readiness: </a:t>
            </a:r>
            <a:r>
              <a:rPr sz="1300">
                <a:solidFill>
                  <a:srgbClr val="94A3B8"/>
                </a:solidFill>
              </a:rPr>
              <a:t>Provides a clean platform for compiler optimizations (e.g. coalescing adjacent MOVEs or canceling opposing turns).</a:t>
            </a:r>
          </a:p>
          <a:p>
            <a:pPr>
              <a:spcBef>
                <a:spcPts val="1200"/>
              </a:spcBef>
            </a:pPr>
            <a:r>
              <a:rPr b="1" sz="1300">
                <a:solidFill>
                  <a:srgbClr val="60A5FA"/>
                </a:solidFill>
              </a:rPr>
              <a:t>• Clean Retargetability: </a:t>
            </a:r>
            <a:r>
              <a:rPr sz="1300">
                <a:solidFill>
                  <a:srgbClr val="94A3B8"/>
                </a:solidFill>
              </a:rPr>
              <a:t>Makes it straightforward to emit bytecode, Python code, or real hardware robot C/C++ firmware from the same IR.</a:t>
            </a:r>
          </a:p>
        </p:txBody>
      </p:sp>
      <p:sp>
        <p:nvSpPr>
          <p:cNvPr id="6" name="Rounded Rectangle 5"/>
          <p:cNvSpPr/>
          <p:nvPr/>
        </p:nvSpPr>
        <p:spPr>
          <a:xfrm>
            <a:off x="6126480" y="1645920"/>
            <a:ext cx="53035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IR Instruction Generation</a:t>
            </a:r>
          </a:p>
          <a:p>
            <a:pPr>
              <a:defRPr b="1" sz="1300">
                <a:solidFill>
                  <a:srgbClr val="38BDF8"/>
                </a:solidFill>
              </a:defRPr>
            </a:pPr>
            <a:r>
              <a:t>IR Data Structure (compiler/ir.py):</a:t>
            </a:r>
          </a:p>
          <a:p>
            <a:pPr>
              <a:spcBef>
                <a:spcPts val="400"/>
              </a:spcBef>
              <a:defRPr sz="1200">
                <a:solidFill>
                  <a:srgbClr val="A5F3FC"/>
                </a:solidFill>
                <a:latin typeface="Consolas"/>
              </a:defRPr>
            </a:pPr>
            <a:r>
              <a:t>@dataclass</a:t>
            </a:r>
            <a:br/>
            <a:r>
              <a:t>class IRInstruction:</a:t>
            </a:r>
            <a:br/>
            <a:r>
              <a:t>    opcode: str    # 'MOVE' or 'TURN'</a:t>
            </a:r>
            <a:br/>
            <a:r>
              <a:t>    operand: Any   # integer distance or 'LEFT'/'RIGHT'</a:t>
            </a:r>
          </a:p>
          <a:p>
            <a:pPr>
              <a:spcBef>
                <a:spcPts val="1400"/>
              </a:spcBef>
              <a:defRPr b="1" sz="1300">
                <a:solidFill>
                  <a:srgbClr val="34D399"/>
                </a:solidFill>
              </a:defRPr>
            </a:pPr>
            <a:r>
              <a:t>Generated Linear IR Representation:</a:t>
            </a:r>
          </a:p>
          <a:p>
            <a:pPr>
              <a:spcBef>
                <a:spcPts val="400"/>
              </a:spcBef>
              <a:defRPr sz="1200">
                <a:solidFill>
                  <a:srgbClr val="A5F3FC"/>
                </a:solidFill>
                <a:latin typeface="Consolas"/>
              </a:defRPr>
            </a:pPr>
            <a:r>
              <a:t>001: OP_MOVE 100</a:t>
            </a:r>
            <a:br/>
            <a:r>
              <a:t>002: OP_TURN RIGHT</a:t>
            </a:r>
            <a:br/>
            <a:r>
              <a:t>003: OP_MOVE 50</a:t>
            </a:r>
            <a:br/>
            <a:r>
              <a:t>004: OP_TURN LEFT</a:t>
            </a:r>
            <a:br/>
            <a:r>
              <a:t>005: OP_MOVE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1000" b="1">
                <a:solidFill>
                  <a:srgbClr val="38BDF8"/>
                </a:solidFill>
                <a:latin typeface="Segoe UI"/>
              </a:defRPr>
            </a:pPr>
            <a:r>
              <a:t>COMPILER PHASE 6</a:t>
            </a:r>
          </a:p>
        </p:txBody>
      </p:sp>
      <p:sp>
        <p:nvSpPr>
          <p:cNvPr id="4" name="TextBox 3"/>
          <p:cNvSpPr txBox="1"/>
          <p:nvPr/>
        </p:nvSpPr>
        <p:spPr>
          <a:xfrm>
            <a:off x="731520" y="777240"/>
            <a:ext cx="10698480" cy="640080"/>
          </a:xfrm>
          <a:prstGeom prst="rect">
            <a:avLst/>
          </a:prstGeom>
          <a:noFill/>
        </p:spPr>
        <p:txBody>
          <a:bodyPr wrap="square" lIns="0" tIns="0">
            <a:spAutoFit/>
          </a:bodyPr>
          <a:lstStyle/>
          <a:p>
            <a:pPr>
              <a:defRPr sz="2600" b="1">
                <a:solidFill>
                  <a:srgbClr val="F8FAFC"/>
                </a:solidFill>
                <a:latin typeface="Segoe UI"/>
              </a:defRPr>
            </a:pPr>
            <a:r>
              <a:t>Code Generation: Compact Bytecode</a:t>
            </a:r>
          </a:p>
          <a:p>
            <a:pPr>
              <a:spcBef>
                <a:spcPts val="400"/>
              </a:spcBef>
              <a:defRPr sz="1300">
                <a:solidFill>
                  <a:srgbClr val="94A3B8"/>
                </a:solidFill>
                <a:latin typeface="Segoe UI"/>
              </a:defRPr>
            </a:pPr>
            <a:r>
              <a:t>Synthesizing an opcode-based binary/integer instruction stream (compiler/codegen.py)</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Instruction Set Architecture (ISA)</a:t>
            </a:r>
          </a:p>
          <a:p>
            <a:pPr>
              <a:spcBef>
                <a:spcPts val="1200"/>
              </a:spcBef>
            </a:pPr>
            <a:r>
              <a:rPr b="1" sz="1300">
                <a:solidFill>
                  <a:srgbClr val="38BDF8"/>
                </a:solidFill>
              </a:rPr>
              <a:t>• Opcode Encoding: </a:t>
            </a:r>
            <a:r>
              <a:rPr sz="1300">
                <a:solidFill>
                  <a:srgbClr val="94A3B8"/>
                </a:solidFill>
              </a:rPr>
              <a:t>Every instruction maps to a compact numeric code:
  • OP_MOVE = 1
  • OP_TURN = 2</a:t>
            </a:r>
          </a:p>
          <a:p>
            <a:pPr>
              <a:spcBef>
                <a:spcPts val="1200"/>
              </a:spcBef>
            </a:pPr>
            <a:r>
              <a:rPr b="1" sz="1300">
                <a:solidFill>
                  <a:srgbClr val="38BDF8"/>
                </a:solidFill>
              </a:rPr>
              <a:t>• Operand Serialization: </a:t>
            </a:r>
            <a:r>
              <a:rPr sz="1300">
                <a:solidFill>
                  <a:srgbClr val="94A3B8"/>
                </a:solidFill>
              </a:rPr>
              <a:t>Parameters follow opcodes directly in memory:
  • DIR_LEFT = 1
  • DIR_RIGHT = 2
  • Distances stored as raw integer constants.</a:t>
            </a:r>
          </a:p>
          <a:p>
            <a:pPr>
              <a:spcBef>
                <a:spcPts val="1200"/>
              </a:spcBef>
            </a:pPr>
            <a:r>
              <a:rPr b="1" sz="1300">
                <a:solidFill>
                  <a:srgbClr val="38BDF8"/>
                </a:solidFill>
              </a:rPr>
              <a:t>• Streamlined Format: </a:t>
            </a:r>
            <a:r>
              <a:rPr sz="1300">
                <a:solidFill>
                  <a:srgbClr val="94A3B8"/>
                </a:solidFill>
              </a:rPr>
              <a:t>Produces a flat, memory-efficient array of integers ready for direct VM consumption without parsing string overhead.</a:t>
            </a:r>
          </a:p>
        </p:txBody>
      </p:sp>
      <p:sp>
        <p:nvSpPr>
          <p:cNvPr id="6" name="Rounded Rectangle 5"/>
          <p:cNvSpPr/>
          <p:nvPr/>
        </p:nvSpPr>
        <p:spPr>
          <a:xfrm>
            <a:off x="6126480" y="1645920"/>
            <a:ext cx="53035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Bytecode Mapping Example</a:t>
            </a:r>
          </a:p>
          <a:p>
            <a:pPr>
              <a:defRPr b="1" sz="1300">
                <a:solidFill>
                  <a:srgbClr val="34D399"/>
                </a:solidFill>
              </a:defRPr>
            </a:pPr>
            <a:r>
              <a:t>High-Level Source to Bytecode Stream:</a:t>
            </a:r>
          </a:p>
          <a:p>
            <a:pPr>
              <a:spcBef>
                <a:spcPts val="800"/>
              </a:spcBef>
            </a:pPr>
          </a:p>
          <a:p>
            <a:pPr>
              <a:defRPr sz="1100">
                <a:solidFill>
                  <a:srgbClr val="A5F3FC"/>
                </a:solidFill>
                <a:latin typeface="Consolas"/>
              </a:defRPr>
            </a:pPr>
            <a:r>
              <a:t>Source Statement ➔ IR Opcode      ➔ Bytecode Stream</a:t>
            </a:r>
          </a:p>
          <a:p>
            <a:pPr>
              <a:defRPr sz="1100">
                <a:solidFill>
                  <a:srgbClr val="A5F3FC"/>
                </a:solidFill>
                <a:latin typeface="Consolas"/>
              </a:defRPr>
            </a:pPr>
            <a:r>
              <a:t>MOVE 100        ➔ OP_MOVE 100    ➔ [1, 100]</a:t>
            </a:r>
          </a:p>
          <a:p>
            <a:pPr>
              <a:defRPr sz="1100">
                <a:solidFill>
                  <a:srgbClr val="A5F3FC"/>
                </a:solidFill>
                <a:latin typeface="Consolas"/>
              </a:defRPr>
            </a:pPr>
            <a:r>
              <a:t>TURN RIGHT      ➔ OP_TURN RIGHT  ➔ [2, 2]</a:t>
            </a:r>
          </a:p>
          <a:p>
            <a:pPr>
              <a:defRPr sz="1100">
                <a:solidFill>
                  <a:srgbClr val="A5F3FC"/>
                </a:solidFill>
                <a:latin typeface="Consolas"/>
              </a:defRPr>
            </a:pPr>
            <a:r>
              <a:t>MOVE 50         ➔ OP_MOVE 50     ➔ [1, 50]</a:t>
            </a:r>
          </a:p>
          <a:p>
            <a:pPr>
              <a:defRPr sz="1100">
                <a:solidFill>
                  <a:srgbClr val="A5F3FC"/>
                </a:solidFill>
                <a:latin typeface="Consolas"/>
              </a:defRPr>
            </a:pPr>
            <a:r>
              <a:t>TURN LEFT       ➔ OP_TURN LEFT   ➔ [2, 1]</a:t>
            </a:r>
          </a:p>
          <a:p>
            <a:pPr>
              <a:defRPr sz="1100">
                <a:solidFill>
                  <a:srgbClr val="A5F3FC"/>
                </a:solidFill>
                <a:latin typeface="Consolas"/>
              </a:defRPr>
            </a:pPr>
            <a:r>
              <a:t>MOVE 30         ➔ OP_MOVE 30     ➔ [1, 30]</a:t>
            </a:r>
          </a:p>
          <a:p>
            <a:pPr>
              <a:spcBef>
                <a:spcPts val="1200"/>
              </a:spcBef>
              <a:defRPr b="1" sz="1200">
                <a:solidFill>
                  <a:srgbClr val="FBBF24"/>
                </a:solidFill>
              </a:defRPr>
            </a:pPr>
            <a:r>
              <a:t>Resulting Bytecode Array:</a:t>
            </a:r>
          </a:p>
          <a:p>
            <a:pPr>
              <a:spcBef>
                <a:spcPts val="400"/>
              </a:spcBef>
              <a:defRPr sz="1300" b="1">
                <a:solidFill>
                  <a:srgbClr val="38BDF8"/>
                </a:solidFill>
                <a:latin typeface="Consolas"/>
              </a:defRPr>
            </a:pPr>
            <a:r>
              <a:t>[1, 100, 2, 2, 1, 50, 2, 1, 1,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1000" b="1">
                <a:solidFill>
                  <a:srgbClr val="38BDF8"/>
                </a:solidFill>
                <a:latin typeface="Segoe UI"/>
              </a:defRPr>
            </a:pPr>
            <a:r>
              <a:t>COMPILER PHASE 7</a:t>
            </a:r>
          </a:p>
        </p:txBody>
      </p:sp>
      <p:sp>
        <p:nvSpPr>
          <p:cNvPr id="4" name="TextBox 3"/>
          <p:cNvSpPr txBox="1"/>
          <p:nvPr/>
        </p:nvSpPr>
        <p:spPr>
          <a:xfrm>
            <a:off x="731520" y="777240"/>
            <a:ext cx="10698480" cy="640080"/>
          </a:xfrm>
          <a:prstGeom prst="rect">
            <a:avLst/>
          </a:prstGeom>
          <a:noFill/>
        </p:spPr>
        <p:txBody>
          <a:bodyPr wrap="square" lIns="0" tIns="0">
            <a:spAutoFit/>
          </a:bodyPr>
          <a:lstStyle/>
          <a:p>
            <a:pPr>
              <a:defRPr sz="2600" b="1">
                <a:solidFill>
                  <a:srgbClr val="F8FAFC"/>
                </a:solidFill>
                <a:latin typeface="Segoe UI"/>
              </a:defRPr>
            </a:pPr>
            <a:r>
              <a:t>Virtual Machine: Robot State Engine</a:t>
            </a:r>
          </a:p>
          <a:p>
            <a:pPr>
              <a:spcBef>
                <a:spcPts val="400"/>
              </a:spcBef>
              <a:defRPr sz="1300">
                <a:solidFill>
                  <a:srgbClr val="94A3B8"/>
                </a:solidFill>
                <a:latin typeface="Segoe UI"/>
              </a:defRPr>
            </a:pPr>
            <a:r>
              <a:t>Executing bytecode and tracking spatial physics &amp; history (compiler/vm.py)</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VM Execution Lifecycle</a:t>
            </a:r>
          </a:p>
          <a:p>
            <a:pPr>
              <a:spcBef>
                <a:spcPts val="1000"/>
              </a:spcBef>
            </a:pPr>
            <a:r>
              <a:rPr b="1" sz="1300">
                <a:solidFill>
                  <a:srgbClr val="38BDF8"/>
                </a:solidFill>
              </a:rPr>
              <a:t>• Program Counter (PC): </a:t>
            </a:r>
            <a:r>
              <a:rPr sz="1300">
                <a:solidFill>
                  <a:srgbClr val="94A3B8"/>
                </a:solidFill>
              </a:rPr>
              <a:t>Monitors instruction pointer, advancing through opcodes and fetching argument offsets.</a:t>
            </a:r>
          </a:p>
          <a:p>
            <a:pPr>
              <a:spcBef>
                <a:spcPts val="1000"/>
              </a:spcBef>
            </a:pPr>
            <a:r>
              <a:rPr b="1" sz="1300">
                <a:solidFill>
                  <a:srgbClr val="38BDF8"/>
                </a:solidFill>
              </a:rPr>
              <a:t>• Fetch-Decode-Execute: </a:t>
            </a:r>
            <a:r>
              <a:rPr sz="1300">
                <a:solidFill>
                  <a:srgbClr val="94A3B8"/>
                </a:solidFill>
              </a:rPr>
              <a:t>Reads opcode (OP_MOVE/OP_TURN), dispatches internal state updates, and advances the PC.</a:t>
            </a:r>
          </a:p>
          <a:p>
            <a:pPr>
              <a:spcBef>
                <a:spcPts val="1000"/>
              </a:spcBef>
            </a:pPr>
            <a:r>
              <a:rPr b="1" sz="1300">
                <a:solidFill>
                  <a:srgbClr val="38BDF8"/>
                </a:solidFill>
              </a:rPr>
              <a:t>• Kinematics &amp; Coordinate System: </a:t>
            </a:r>
            <a:r>
              <a:rPr sz="1300">
                <a:solidFill>
                  <a:srgbClr val="94A3B8"/>
                </a:solidFill>
              </a:rPr>
              <a:t>Maintains 2D position (x, y) and compass orientation [NORTH, EAST, SOUTH, WEST].</a:t>
            </a:r>
          </a:p>
          <a:p>
            <a:pPr>
              <a:spcBef>
                <a:spcPts val="1000"/>
              </a:spcBef>
            </a:pPr>
            <a:r>
              <a:rPr b="1" sz="1300">
                <a:solidFill>
                  <a:srgbClr val="38BDF8"/>
                </a:solidFill>
              </a:rPr>
              <a:t>• State Continuity: </a:t>
            </a:r>
            <a:r>
              <a:rPr sz="1300">
                <a:solidFill>
                  <a:srgbClr val="94A3B8"/>
                </a:solidFill>
              </a:rPr>
              <a:t>Supports persistent robot state between consecutive program executions, retaining coordinates.</a:t>
            </a:r>
          </a:p>
        </p:txBody>
      </p:sp>
      <p:sp>
        <p:nvSpPr>
          <p:cNvPr id="6" name="Rounded Rectangle 5"/>
          <p:cNvSpPr/>
          <p:nvPr/>
        </p:nvSpPr>
        <p:spPr>
          <a:xfrm>
            <a:off x="6126480" y="1645920"/>
            <a:ext cx="53035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Execution Trace Generation</a:t>
            </a:r>
          </a:p>
          <a:p>
            <a:pPr>
              <a:defRPr b="1" sz="1300">
                <a:solidFill>
                  <a:srgbClr val="34D399"/>
                </a:solidFill>
              </a:defRPr>
            </a:pPr>
            <a:r>
              <a:t>Step-by-Step Trace Object for Visualization:</a:t>
            </a:r>
          </a:p>
          <a:p>
            <a:pPr>
              <a:spcBef>
                <a:spcPts val="400"/>
              </a:spcBef>
              <a:defRPr sz="1100">
                <a:solidFill>
                  <a:srgbClr val="A5F3FC"/>
                </a:solidFill>
                <a:latin typeface="Consolas"/>
              </a:defRPr>
            </a:pPr>
            <a:r>
              <a:t>[</a:t>
            </a:r>
            <a:br/>
            <a:r>
              <a:t>  {</a:t>
            </a:r>
            <a:br/>
            <a:r>
              <a:t>    "step": 1,</a:t>
            </a:r>
            <a:br/>
            <a:r>
              <a:t>    "instruction": "MOVE 100",</a:t>
            </a:r>
            <a:br/>
            <a:r>
              <a:t>    "before": {"x": 0, "y": 0, "direction": "NORTH"},</a:t>
            </a:r>
            <a:br/>
            <a:r>
              <a:t>    "after":  {"x": 0, "y": 100, "direction": "NORTH"}</a:t>
            </a:r>
            <a:br/>
            <a:r>
              <a:t>  },</a:t>
            </a:r>
            <a:br/>
            <a:r>
              <a:t>  {</a:t>
            </a:r>
            <a:br/>
            <a:r>
              <a:t>    "step": 2,</a:t>
            </a:r>
            <a:br/>
            <a:r>
              <a:t>    "instruction": "TURN RIGHT",</a:t>
            </a:r>
            <a:br/>
            <a:r>
              <a:t>    "before": {"x": 0, "y": 100, "direction": "NORTH"},</a:t>
            </a:r>
            <a:br/>
            <a:r>
              <a:t>    "after":  {"x": 0, "y": 100, "direction": "EAST"}</a:t>
            </a:r>
            <a:br/>
            <a:r>
              <a:t>  }</a:t>
            </a: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1000" b="1">
                <a:solidFill>
                  <a:srgbClr val="38BDF8"/>
                </a:solidFill>
                <a:latin typeface="Segoe UI"/>
              </a:defRPr>
            </a:pPr>
            <a:r>
              <a:t>SERVICE ARCHITECTURE</a:t>
            </a:r>
          </a:p>
        </p:txBody>
      </p:sp>
      <p:sp>
        <p:nvSpPr>
          <p:cNvPr id="4" name="TextBox 3"/>
          <p:cNvSpPr txBox="1"/>
          <p:nvPr/>
        </p:nvSpPr>
        <p:spPr>
          <a:xfrm>
            <a:off x="731520" y="777240"/>
            <a:ext cx="10698480" cy="640080"/>
          </a:xfrm>
          <a:prstGeom prst="rect">
            <a:avLst/>
          </a:prstGeom>
          <a:noFill/>
        </p:spPr>
        <p:txBody>
          <a:bodyPr wrap="square" lIns="0" tIns="0">
            <a:spAutoFit/>
          </a:bodyPr>
          <a:lstStyle/>
          <a:p>
            <a:pPr>
              <a:defRPr sz="2600" b="1">
                <a:solidFill>
                  <a:srgbClr val="F8FAFC"/>
                </a:solidFill>
                <a:latin typeface="Segoe UI"/>
              </a:defRPr>
            </a:pPr>
            <a:r>
              <a:t>FastAPI Backend Service</a:t>
            </a:r>
          </a:p>
          <a:p>
            <a:pPr>
              <a:spcBef>
                <a:spcPts val="400"/>
              </a:spcBef>
              <a:defRPr sz="1300">
                <a:solidFill>
                  <a:srgbClr val="94A3B8"/>
                </a:solidFill>
                <a:latin typeface="Segoe UI"/>
              </a:defRPr>
            </a:pPr>
            <a:r>
              <a:t>Exposing compiler pipeline endpoints and execution diagnostics (backend/main.py)</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API Design &amp; Endpoints</a:t>
            </a:r>
          </a:p>
          <a:p>
            <a:pPr>
              <a:spcBef>
                <a:spcPts val="1000"/>
              </a:spcBef>
            </a:pPr>
            <a:r>
              <a:rPr b="1" sz="1300">
                <a:solidFill>
                  <a:srgbClr val="60A5FA"/>
                </a:solidFill>
              </a:rPr>
              <a:t>• GET /: </a:t>
            </a:r>
            <a:r>
              <a:rPr sz="1300">
                <a:solidFill>
                  <a:srgbClr val="94A3B8"/>
                </a:solidFill>
              </a:rPr>
              <a:t>Root health-check confirming compiler service operational status.</a:t>
            </a:r>
          </a:p>
          <a:p>
            <a:pPr>
              <a:spcBef>
                <a:spcPts val="1000"/>
              </a:spcBef>
            </a:pPr>
            <a:r>
              <a:rPr b="1" sz="1300">
                <a:solidFill>
                  <a:srgbClr val="60A5FA"/>
                </a:solidFill>
              </a:rPr>
              <a:t>• GET /compiler/status: </a:t>
            </a:r>
            <a:r>
              <a:rPr sz="1300">
                <a:solidFill>
                  <a:srgbClr val="94A3B8"/>
                </a:solidFill>
              </a:rPr>
              <a:t>Metadata endpoint listing pipeline readiness and active compiler phases.</a:t>
            </a:r>
          </a:p>
          <a:p>
            <a:pPr>
              <a:spcBef>
                <a:spcPts val="1000"/>
              </a:spcBef>
            </a:pPr>
            <a:r>
              <a:rPr b="1" sz="1300">
                <a:solidFill>
                  <a:srgbClr val="60A5FA"/>
                </a:solidFill>
              </a:rPr>
              <a:t>• POST /execute: </a:t>
            </a:r>
            <a:r>
              <a:rPr sz="1300">
                <a:solidFill>
                  <a:srgbClr val="94A3B8"/>
                </a:solidFill>
              </a:rPr>
              <a:t>Primary endpoint receiving source code and orchestrating the entire 7-stage compilation pipeline.</a:t>
            </a:r>
          </a:p>
          <a:p>
            <a:pPr>
              <a:spcBef>
                <a:spcPts val="1000"/>
              </a:spcBef>
            </a:pPr>
            <a:r>
              <a:rPr b="1" sz="1300">
                <a:solidFill>
                  <a:srgbClr val="60A5FA"/>
                </a:solidFill>
              </a:rPr>
              <a:t>• Asynchronous Architecture: </a:t>
            </a:r>
            <a:r>
              <a:rPr sz="1300">
                <a:solidFill>
                  <a:srgbClr val="94A3B8"/>
                </a:solidFill>
              </a:rPr>
              <a:t>High-performance ASGI server powered by FastAPI and Uvicorn.</a:t>
            </a:r>
          </a:p>
          <a:p>
            <a:pPr>
              <a:spcBef>
                <a:spcPts val="1000"/>
              </a:spcBef>
            </a:pPr>
            <a:r>
              <a:rPr b="1" sz="1300">
                <a:solidFill>
                  <a:srgbClr val="60A5FA"/>
                </a:solidFill>
              </a:rPr>
              <a:t>• CORS Middleware: </a:t>
            </a:r>
            <a:r>
              <a:rPr sz="1300">
                <a:solidFill>
                  <a:srgbClr val="94A3B8"/>
                </a:solidFill>
              </a:rPr>
              <a:t>Fully configured CORS headers to enable direct browser access from localhost IDE.</a:t>
            </a:r>
          </a:p>
        </p:txBody>
      </p:sp>
      <p:sp>
        <p:nvSpPr>
          <p:cNvPr id="6" name="Rounded Rectangle 5"/>
          <p:cNvSpPr/>
          <p:nvPr/>
        </p:nvSpPr>
        <p:spPr>
          <a:xfrm>
            <a:off x="6126480" y="1645920"/>
            <a:ext cx="53035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Comprehensive Response Payload</a:t>
            </a:r>
          </a:p>
          <a:p>
            <a:pPr>
              <a:defRPr b="1" sz="1300">
                <a:solidFill>
                  <a:srgbClr val="38BDF8"/>
                </a:solidFill>
              </a:defRPr>
            </a:pPr>
            <a:r>
              <a:t>Unified Diagnostic Execution Payload:</a:t>
            </a:r>
          </a:p>
          <a:p>
            <a:pPr>
              <a:spcBef>
                <a:spcPts val="400"/>
              </a:spcBef>
              <a:defRPr sz="1100">
                <a:solidFill>
                  <a:srgbClr val="A5F3FC"/>
                </a:solidFill>
                <a:latin typeface="Consolas"/>
              </a:defRPr>
            </a:pPr>
            <a:r>
              <a:t>{</a:t>
            </a:r>
            <a:br/>
            <a:r>
              <a:t>  "success": true,</a:t>
            </a:r>
            <a:br/>
            <a:r>
              <a:t>  "pipeline": {</a:t>
            </a:r>
            <a:br/>
            <a:r>
              <a:t>    "tokens": [...],</a:t>
            </a:r>
            <a:br/>
            <a:r>
              <a:t>    "ast": {...},</a:t>
            </a:r>
            <a:br/>
            <a:r>
              <a:t>    "ir": [...],</a:t>
            </a:r>
            <a:br/>
            <a:r>
              <a:t>    "bytecode": [1, 100, 2, 2, ...]</a:t>
            </a:r>
            <a:br/>
            <a:r>
              <a:t>  },</a:t>
            </a:r>
            <a:br/>
            <a:r>
              <a:t>  "execution": {</a:t>
            </a:r>
            <a:br/>
            <a:r>
              <a:t>    "initial_state": {"x": 0, "y": 0, "dir": "NORTH"},</a:t>
            </a:r>
            <a:br/>
            <a:r>
              <a:t>    "final_state":   {"x": 50, "y": 130, "dir": "NORTH"},</a:t>
            </a:r>
            <a:br/>
            <a:r>
              <a:t>    "trace": [...],</a:t>
            </a:r>
            <a:br/>
            <a:r>
              <a:t>    "path": [[0,0], [0,100], [50,100], [50,130]]</a:t>
            </a:r>
            <a:br/>
            <a:r>
              <a:t>  }</a:t>
            </a:r>
            <a:br/>
            <a: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1000" b="1">
                <a:solidFill>
                  <a:srgbClr val="38BDF8"/>
                </a:solidFill>
                <a:latin typeface="Segoe UI"/>
              </a:defRPr>
            </a:pPr>
            <a:r>
              <a:t>USER EXPERIENCE</a:t>
            </a:r>
          </a:p>
        </p:txBody>
      </p:sp>
      <p:sp>
        <p:nvSpPr>
          <p:cNvPr id="4" name="TextBox 3"/>
          <p:cNvSpPr txBox="1"/>
          <p:nvPr/>
        </p:nvSpPr>
        <p:spPr>
          <a:xfrm>
            <a:off x="731520" y="777240"/>
            <a:ext cx="10698480" cy="640080"/>
          </a:xfrm>
          <a:prstGeom prst="rect">
            <a:avLst/>
          </a:prstGeom>
          <a:noFill/>
        </p:spPr>
        <p:txBody>
          <a:bodyPr wrap="square" lIns="0" tIns="0">
            <a:spAutoFit/>
          </a:bodyPr>
          <a:lstStyle/>
          <a:p>
            <a:pPr>
              <a:defRPr sz="2600" b="1">
                <a:solidFill>
                  <a:srgbClr val="F8FAFC"/>
                </a:solidFill>
                <a:latin typeface="Segoe UI"/>
              </a:defRPr>
            </a:pPr>
            <a:r>
              <a:t>Interactive Web IDE &amp; 2D Simulator</a:t>
            </a:r>
          </a:p>
          <a:p>
            <a:pPr>
              <a:spcBef>
                <a:spcPts val="400"/>
              </a:spcBef>
              <a:defRPr sz="1300">
                <a:solidFill>
                  <a:srgbClr val="94A3B8"/>
                </a:solidFill>
                <a:latin typeface="Segoe UI"/>
              </a:defRPr>
            </a:pPr>
            <a:r>
              <a:t>Modern HTML5 Canvas interface with compiler debugger &amp; step animator</a:t>
            </a:r>
          </a:p>
        </p:txBody>
      </p:sp>
      <p:sp>
        <p:nvSpPr>
          <p:cNvPr id="5" name="Rounded Rectangle 4"/>
          <p:cNvSpPr/>
          <p:nvPr/>
        </p:nvSpPr>
        <p:spPr>
          <a:xfrm>
            <a:off x="731520" y="1645920"/>
            <a:ext cx="3383280" cy="4572000"/>
          </a:xfrm>
          <a:prstGeom prst="roundRect">
            <a:avLst/>
          </a:prstGeom>
          <a:solidFill>
            <a:srgbClr val="1E293B"/>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Code Editor &amp; IDE</a:t>
            </a:r>
          </a:p>
          <a:p>
            <a:pPr>
              <a:spcBef>
                <a:spcPts val="800"/>
              </a:spcBef>
              <a:defRPr sz="1300">
                <a:solidFill>
                  <a:srgbClr val="94A3B8"/>
                </a:solidFill>
                <a:latin typeface="Segoe UI"/>
              </a:defRPr>
            </a:pPr>
            <a:r>
              <a:t>frontend/index.html &amp; style.css</a:t>
            </a:r>
            <a:br/>
            <a:br/>
            <a:r>
              <a:t>• Dark glassmorphic modern UI</a:t>
            </a:r>
            <a:br/>
            <a:r>
              <a:t>• Syntax-styled code input</a:t>
            </a:r>
            <a:br/>
            <a:r>
              <a:t>• Quick-load sample scripts</a:t>
            </a:r>
            <a:br/>
            <a:r>
              <a:t>• Real-time compile button</a:t>
            </a:r>
            <a:br/>
            <a:r>
              <a:t>• Error alert banners</a:t>
            </a:r>
          </a:p>
        </p:txBody>
      </p:sp>
      <p:sp>
        <p:nvSpPr>
          <p:cNvPr id="6" name="Rounded Rectangle 5"/>
          <p:cNvSpPr/>
          <p:nvPr/>
        </p:nvSpPr>
        <p:spPr>
          <a:xfrm>
            <a:off x="4389120" y="1645920"/>
            <a:ext cx="3383280" cy="457200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2D Canvas Simulator</a:t>
            </a:r>
          </a:p>
          <a:p>
            <a:pPr>
              <a:spcBef>
                <a:spcPts val="800"/>
              </a:spcBef>
              <a:defRPr sz="1300">
                <a:solidFill>
                  <a:srgbClr val="94A3B8"/>
                </a:solidFill>
                <a:latin typeface="Segoe UI"/>
              </a:defRPr>
            </a:pPr>
            <a:r>
              <a:t>frontend/script.js</a:t>
            </a:r>
            <a:br/>
            <a:br/>
            <a:r>
              <a:t>• HTML5 Canvas 2D engine</a:t>
            </a:r>
            <a:br/>
            <a:r>
              <a:t>• Robot avatar with directional heading</a:t>
            </a:r>
            <a:br/>
            <a:r>
              <a:t>• Coordinate grid with origin marker</a:t>
            </a:r>
            <a:br/>
            <a:r>
              <a:t>• Dynamic breadcrumb path trails</a:t>
            </a:r>
            <a:br/>
            <a:r>
              <a:t>• Centered Cartesian coordinates</a:t>
            </a:r>
          </a:p>
        </p:txBody>
      </p:sp>
      <p:sp>
        <p:nvSpPr>
          <p:cNvPr id="7" name="Rounded Rectangle 6"/>
          <p:cNvSpPr/>
          <p:nvPr/>
        </p:nvSpPr>
        <p:spPr>
          <a:xfrm>
            <a:off x="8046720" y="1645920"/>
            <a:ext cx="3383280" cy="457200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Compiler Inspector</a:t>
            </a:r>
          </a:p>
          <a:p>
            <a:pPr>
              <a:spcBef>
                <a:spcPts val="800"/>
              </a:spcBef>
              <a:defRPr sz="1300">
                <a:solidFill>
                  <a:srgbClr val="94A3B8"/>
                </a:solidFill>
                <a:latin typeface="Segoe UI"/>
              </a:defRPr>
            </a:pPr>
            <a:r>
              <a:t>Live Stage Debugger</a:t>
            </a:r>
            <a:br/>
            <a:br/>
            <a:r>
              <a:t>• Token stream viewer tab</a:t>
            </a:r>
            <a:br/>
            <a:r>
              <a:t>• Interactive AST tree inspector</a:t>
            </a:r>
            <a:br/>
            <a:r>
              <a:t>• Bytecode opcode readout</a:t>
            </a:r>
            <a:br/>
            <a:r>
              <a:t>• Step-by-step trace timeline</a:t>
            </a:r>
            <a:br/>
            <a:r>
              <a:t>• Playback speed controls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1000" b="1">
                <a:solidFill>
                  <a:srgbClr val="38BDF8"/>
                </a:solidFill>
                <a:latin typeface="Segoe UI"/>
              </a:defRPr>
            </a:pPr>
            <a:r>
              <a:t>DEMONSTRATION</a:t>
            </a:r>
          </a:p>
        </p:txBody>
      </p:sp>
      <p:sp>
        <p:nvSpPr>
          <p:cNvPr id="4" name="TextBox 3"/>
          <p:cNvSpPr txBox="1"/>
          <p:nvPr/>
        </p:nvSpPr>
        <p:spPr>
          <a:xfrm>
            <a:off x="731520" y="777240"/>
            <a:ext cx="10698480" cy="640080"/>
          </a:xfrm>
          <a:prstGeom prst="rect">
            <a:avLst/>
          </a:prstGeom>
          <a:noFill/>
        </p:spPr>
        <p:txBody>
          <a:bodyPr wrap="square" lIns="0" tIns="0">
            <a:spAutoFit/>
          </a:bodyPr>
          <a:lstStyle/>
          <a:p>
            <a:pPr>
              <a:defRPr sz="2600" b="1">
                <a:solidFill>
                  <a:srgbClr val="F8FAFC"/>
                </a:solidFill>
                <a:latin typeface="Segoe UI"/>
              </a:defRPr>
            </a:pPr>
            <a:r>
              <a:t>End-to-End Program Walkthrough</a:t>
            </a:r>
          </a:p>
          <a:p>
            <a:pPr>
              <a:spcBef>
                <a:spcPts val="400"/>
              </a:spcBef>
              <a:defRPr sz="1300">
                <a:solidFill>
                  <a:srgbClr val="94A3B8"/>
                </a:solidFill>
                <a:latin typeface="Segoe UI"/>
              </a:defRPr>
            </a:pPr>
            <a:r>
              <a:t>Tracing sample execution from source code to final robot spatial coordinates</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Sample Program Execution</a:t>
            </a:r>
          </a:p>
          <a:p>
            <a:pPr>
              <a:spcBef>
                <a:spcPts val="800"/>
              </a:spcBef>
              <a:defRPr sz="1300">
                <a:solidFill>
                  <a:srgbClr val="38BDF8"/>
                </a:solidFill>
                <a:latin typeface="Consolas"/>
              </a:defRPr>
            </a:pPr>
            <a:r>
              <a:t>START</a:t>
            </a:r>
            <a:br/>
            <a:r>
              <a:t>MOVE 100</a:t>
            </a:r>
            <a:br/>
            <a:r>
              <a:t>TURN RIGHT</a:t>
            </a:r>
            <a:br/>
            <a:r>
              <a:t>MOVE 50</a:t>
            </a:r>
            <a:br/>
            <a:r>
              <a:t>TURN LEFT</a:t>
            </a:r>
            <a:br/>
            <a:r>
              <a:t>MOVE 30</a:t>
            </a:r>
            <a:br/>
            <a:r>
              <a:t>STOP</a:t>
            </a:r>
          </a:p>
          <a:p>
            <a:pPr>
              <a:spcBef>
                <a:spcPts val="1200"/>
              </a:spcBef>
              <a:defRPr b="1" sz="1300">
                <a:solidFill>
                  <a:srgbClr val="F8FAFC"/>
                </a:solidFill>
              </a:defRPr>
            </a:pPr>
            <a:r>
              <a:t>Compiler Pipeline Outputs:</a:t>
            </a:r>
          </a:p>
          <a:p>
            <a:pPr>
              <a:spcBef>
                <a:spcPts val="400"/>
              </a:spcBef>
            </a:pPr>
            <a:r>
              <a:rPr b="1" sz="1200">
                <a:solidFill>
                  <a:srgbClr val="34D399"/>
                </a:solidFill>
              </a:rPr>
              <a:t>• Tokens: </a:t>
            </a:r>
            <a:r>
              <a:rPr sz="1200">
                <a:solidFill>
                  <a:srgbClr val="94A3B8"/>
                </a:solidFill>
              </a:rPr>
              <a:t>10 Tokens identified (START, MOVE, INT, ...)</a:t>
            </a:r>
          </a:p>
          <a:p>
            <a:pPr>
              <a:spcBef>
                <a:spcPts val="400"/>
              </a:spcBef>
            </a:pPr>
            <a:r>
              <a:rPr b="1" sz="1200">
                <a:solidFill>
                  <a:srgbClr val="34D399"/>
                </a:solidFill>
              </a:rPr>
              <a:t>• AST: </a:t>
            </a:r>
            <a:r>
              <a:rPr sz="1200">
                <a:solidFill>
                  <a:srgbClr val="94A3B8"/>
                </a:solidFill>
              </a:rPr>
              <a:t>Program with 5 Statement Nodes</a:t>
            </a:r>
          </a:p>
          <a:p>
            <a:pPr>
              <a:spcBef>
                <a:spcPts val="400"/>
              </a:spcBef>
            </a:pPr>
            <a:r>
              <a:rPr b="1" sz="1200">
                <a:solidFill>
                  <a:srgbClr val="34D399"/>
                </a:solidFill>
              </a:rPr>
              <a:t>• Semantic: </a:t>
            </a:r>
            <a:r>
              <a:rPr sz="1200">
                <a:solidFill>
                  <a:srgbClr val="94A3B8"/>
                </a:solidFill>
              </a:rPr>
              <a:t>0 Errors; bounds &amp; parameters verified</a:t>
            </a:r>
          </a:p>
          <a:p>
            <a:pPr>
              <a:spcBef>
                <a:spcPts val="400"/>
              </a:spcBef>
            </a:pPr>
            <a:r>
              <a:rPr b="1" sz="1200">
                <a:solidFill>
                  <a:srgbClr val="34D399"/>
                </a:solidFill>
              </a:rPr>
              <a:t>• IR: </a:t>
            </a:r>
            <a:r>
              <a:rPr sz="1200">
                <a:solidFill>
                  <a:srgbClr val="94A3B8"/>
                </a:solidFill>
              </a:rPr>
              <a:t>OP_MOVE 100, OP_TURN RIGHT, OP_MOVE 50...</a:t>
            </a:r>
          </a:p>
          <a:p>
            <a:pPr>
              <a:spcBef>
                <a:spcPts val="400"/>
              </a:spcBef>
            </a:pPr>
            <a:r>
              <a:rPr b="1" sz="1200">
                <a:solidFill>
                  <a:srgbClr val="34D399"/>
                </a:solidFill>
              </a:rPr>
              <a:t>• Bytecode: </a:t>
            </a:r>
            <a:r>
              <a:rPr sz="1200">
                <a:solidFill>
                  <a:srgbClr val="94A3B8"/>
                </a:solidFill>
              </a:rPr>
              <a:t>[1, 100, 2, 2, 1, 50, 2, 1, 1, 30]</a:t>
            </a:r>
          </a:p>
        </p:txBody>
      </p:sp>
      <p:sp>
        <p:nvSpPr>
          <p:cNvPr id="6" name="Rounded Rectangle 5"/>
          <p:cNvSpPr/>
          <p:nvPr/>
        </p:nvSpPr>
        <p:spPr>
          <a:xfrm>
            <a:off x="6126480" y="1645920"/>
            <a:ext cx="53035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Simulator State Evolution</a:t>
            </a:r>
          </a:p>
          <a:p>
            <a:pPr>
              <a:spcBef>
                <a:spcPts val="600"/>
              </a:spcBef>
              <a:defRPr b="1" sz="1200">
                <a:solidFill>
                  <a:srgbClr val="FBBF24"/>
                </a:solidFill>
                <a:latin typeface="Consolas"/>
              </a:defRPr>
            </a:pPr>
            <a:r>
              <a:t>Step / Action        (X, Y)       Direction</a:t>
            </a:r>
          </a:p>
          <a:p>
            <a:pPr>
              <a:spcBef>
                <a:spcPts val="300"/>
              </a:spcBef>
              <a:defRPr sz="1100">
                <a:solidFill>
                  <a:srgbClr val="A5F3FC"/>
                </a:solidFill>
                <a:latin typeface="Consolas"/>
              </a:defRPr>
            </a:pPr>
            <a:r>
              <a:t>Initial State        (0, 0)       NORTH</a:t>
            </a:r>
          </a:p>
          <a:p>
            <a:pPr>
              <a:spcBef>
                <a:spcPts val="300"/>
              </a:spcBef>
              <a:defRPr sz="1100">
                <a:solidFill>
                  <a:srgbClr val="A5F3FC"/>
                </a:solidFill>
                <a:latin typeface="Consolas"/>
              </a:defRPr>
            </a:pPr>
            <a:r>
              <a:t>Step 1: MOVE 100     (0, 100)     NORTH</a:t>
            </a:r>
          </a:p>
          <a:p>
            <a:pPr>
              <a:spcBef>
                <a:spcPts val="300"/>
              </a:spcBef>
              <a:defRPr sz="1100">
                <a:solidFill>
                  <a:srgbClr val="A5F3FC"/>
                </a:solidFill>
                <a:latin typeface="Consolas"/>
              </a:defRPr>
            </a:pPr>
            <a:r>
              <a:t>Step 2: TURN RIGHT   (0, 100)     EAST</a:t>
            </a:r>
          </a:p>
          <a:p>
            <a:pPr>
              <a:spcBef>
                <a:spcPts val="300"/>
              </a:spcBef>
              <a:defRPr sz="1100">
                <a:solidFill>
                  <a:srgbClr val="A5F3FC"/>
                </a:solidFill>
                <a:latin typeface="Consolas"/>
              </a:defRPr>
            </a:pPr>
            <a:r>
              <a:t>Step 3: MOVE 50      (50, 100)    EAST</a:t>
            </a:r>
          </a:p>
          <a:p>
            <a:pPr>
              <a:spcBef>
                <a:spcPts val="300"/>
              </a:spcBef>
              <a:defRPr sz="1100">
                <a:solidFill>
                  <a:srgbClr val="A5F3FC"/>
                </a:solidFill>
                <a:latin typeface="Consolas"/>
              </a:defRPr>
            </a:pPr>
            <a:r>
              <a:t>Step 4: TURN LEFT    (50, 100)    NORTH</a:t>
            </a:r>
          </a:p>
          <a:p>
            <a:pPr>
              <a:spcBef>
                <a:spcPts val="300"/>
              </a:spcBef>
              <a:defRPr sz="1100">
                <a:solidFill>
                  <a:srgbClr val="A5F3FC"/>
                </a:solidFill>
                <a:latin typeface="Consolas"/>
              </a:defRPr>
            </a:pPr>
            <a:r>
              <a:t>Step 5: MOVE 30      (50, 130)    NORTH</a:t>
            </a:r>
          </a:p>
          <a:p>
            <a:br/>
            <a:pPr>
              <a:spcBef>
                <a:spcPts val="1000"/>
              </a:spcBef>
              <a:defRPr b="1" sz="1300">
                <a:solidFill>
                  <a:srgbClr val="34D399"/>
                </a:solidFill>
                <a:latin typeface="Segoe UI"/>
              </a:defRPr>
            </a:pPr>
            <a:r>
              <a:t>Final Robot Position: (50, 130)</a:t>
            </a:r>
            <a:br/>
            <a:r>
              <a:t>Final Heading: NORTH | Path Traveled: 180 units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1000" b="1">
                <a:solidFill>
                  <a:srgbClr val="38BDF8"/>
                </a:solidFill>
                <a:latin typeface="Segoe UI"/>
              </a:defRPr>
            </a:pPr>
            <a:r>
              <a:t>ACADEMIC ALIGNMENT</a:t>
            </a:r>
          </a:p>
        </p:txBody>
      </p:sp>
      <p:sp>
        <p:nvSpPr>
          <p:cNvPr id="4" name="TextBox 3"/>
          <p:cNvSpPr txBox="1"/>
          <p:nvPr/>
        </p:nvSpPr>
        <p:spPr>
          <a:xfrm>
            <a:off x="731520" y="777240"/>
            <a:ext cx="10698480" cy="640080"/>
          </a:xfrm>
          <a:prstGeom prst="rect">
            <a:avLst/>
          </a:prstGeom>
          <a:noFill/>
        </p:spPr>
        <p:txBody>
          <a:bodyPr wrap="square" lIns="0" tIns="0">
            <a:spAutoFit/>
          </a:bodyPr>
          <a:lstStyle/>
          <a:p>
            <a:pPr>
              <a:defRPr sz="2600" b="1">
                <a:solidFill>
                  <a:srgbClr val="F8FAFC"/>
                </a:solidFill>
                <a:latin typeface="Segoe UI"/>
              </a:defRPr>
            </a:pPr>
            <a:r>
              <a:t>Compiler Design Curriculum Mapping</a:t>
            </a:r>
          </a:p>
          <a:p>
            <a:pPr>
              <a:spcBef>
                <a:spcPts val="400"/>
              </a:spcBef>
              <a:defRPr sz="1300">
                <a:solidFill>
                  <a:srgbClr val="94A3B8"/>
                </a:solidFill>
                <a:latin typeface="Segoe UI"/>
              </a:defRPr>
            </a:pPr>
            <a:r>
              <a:t>Demonstrating core theoretical competencies fulfilled through project implementation</a:t>
            </a:r>
          </a:p>
        </p:txBody>
      </p:sp>
      <p:sp>
        <p:nvSpPr>
          <p:cNvPr id="5" name="Rounded Rectangle 4"/>
          <p:cNvSpPr/>
          <p:nvPr/>
        </p:nvSpPr>
        <p:spPr>
          <a:xfrm>
            <a:off x="731520" y="1645920"/>
            <a:ext cx="512064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Theoretical Concepts Mastered</a:t>
            </a:r>
          </a:p>
          <a:p>
            <a:pPr>
              <a:spcBef>
                <a:spcPts val="1000"/>
              </a:spcBef>
            </a:pPr>
            <a:r>
              <a:rPr b="1" sz="1300">
                <a:solidFill>
                  <a:srgbClr val="60A5FA"/>
                </a:solidFill>
              </a:rPr>
              <a:t>✓ Lexical Analysis &amp; Regular Grammars: </a:t>
            </a:r>
            <a:r>
              <a:rPr sz="1300">
                <a:solidFill>
                  <a:srgbClr val="94A3B8"/>
                </a:solidFill>
              </a:rPr>
              <a:t>Token recognition, regular expressions, lexeme classification, and whitespace handling.</a:t>
            </a:r>
          </a:p>
          <a:p>
            <a:pPr>
              <a:spcBef>
                <a:spcPts val="1000"/>
              </a:spcBef>
            </a:pPr>
            <a:r>
              <a:rPr b="1" sz="1300">
                <a:solidFill>
                  <a:srgbClr val="60A5FA"/>
                </a:solidFill>
              </a:rPr>
              <a:t>✓ Syntax Analysis &amp; Parsing Algorithms: </a:t>
            </a:r>
            <a:r>
              <a:rPr sz="1300">
                <a:solidFill>
                  <a:srgbClr val="94A3B8"/>
                </a:solidFill>
              </a:rPr>
              <a:t>Context-free grammars, LL(1) recursive descent parsing, and concrete parse tree derivation.</a:t>
            </a:r>
          </a:p>
          <a:p>
            <a:pPr>
              <a:spcBef>
                <a:spcPts val="1000"/>
              </a:spcBef>
            </a:pPr>
            <a:r>
              <a:rPr b="1" sz="1300">
                <a:solidFill>
                  <a:srgbClr val="60A5FA"/>
                </a:solidFill>
              </a:rPr>
              <a:t>✓ Abstract Syntax Trees: </a:t>
            </a:r>
            <a:r>
              <a:rPr sz="1300">
                <a:solidFill>
                  <a:srgbClr val="94A3B8"/>
                </a:solidFill>
              </a:rPr>
              <a:t>Tree data structures, visitor pattern, and node hierarchy representation.</a:t>
            </a:r>
          </a:p>
          <a:p>
            <a:pPr>
              <a:spcBef>
                <a:spcPts val="1000"/>
              </a:spcBef>
            </a:pPr>
            <a:r>
              <a:rPr b="1" sz="1300">
                <a:solidFill>
                  <a:srgbClr val="60A5FA"/>
                </a:solidFill>
              </a:rPr>
              <a:t>✓ Type Checking &amp; Semantics: </a:t>
            </a:r>
            <a:r>
              <a:rPr sz="1300">
                <a:solidFill>
                  <a:srgbClr val="94A3B8"/>
                </a:solidFill>
              </a:rPr>
              <a:t>Static validation, symbol verification, and semantic rule enforcement.</a:t>
            </a:r>
          </a:p>
        </p:txBody>
      </p:sp>
      <p:sp>
        <p:nvSpPr>
          <p:cNvPr id="6" name="Rounded Rectangle 5"/>
          <p:cNvSpPr/>
          <p:nvPr/>
        </p:nvSpPr>
        <p:spPr>
          <a:xfrm>
            <a:off x="6126480" y="1645920"/>
            <a:ext cx="5303520" cy="45720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Applied Engineering Outcomes</a:t>
            </a:r>
          </a:p>
          <a:p>
            <a:pPr>
              <a:spcBef>
                <a:spcPts val="1000"/>
              </a:spcBef>
            </a:pPr>
            <a:r>
              <a:rPr b="1" sz="1300">
                <a:solidFill>
                  <a:srgbClr val="34D399"/>
                </a:solidFill>
              </a:rPr>
              <a:t>✓ Intermediate Code Generation: </a:t>
            </a:r>
            <a:r>
              <a:rPr sz="1300">
                <a:solidFill>
                  <a:srgbClr val="94A3B8"/>
                </a:solidFill>
              </a:rPr>
              <a:t>Synthesis of 3AC/linear intermediate instructions decoupling source from machine.</a:t>
            </a:r>
          </a:p>
          <a:p>
            <a:pPr>
              <a:spcBef>
                <a:spcPts val="1000"/>
              </a:spcBef>
            </a:pPr>
            <a:r>
              <a:rPr b="1" sz="1300">
                <a:solidFill>
                  <a:srgbClr val="34D399"/>
                </a:solidFill>
              </a:rPr>
              <a:t>✓ Target Code Synthesis: </a:t>
            </a:r>
            <a:r>
              <a:rPr sz="1300">
                <a:solidFill>
                  <a:srgbClr val="94A3B8"/>
                </a:solidFill>
              </a:rPr>
              <a:t>Generation of opcode-based bytecode instruction sequences.</a:t>
            </a:r>
          </a:p>
          <a:p>
            <a:pPr>
              <a:spcBef>
                <a:spcPts val="1000"/>
              </a:spcBef>
            </a:pPr>
            <a:r>
              <a:rPr b="1" sz="1300">
                <a:solidFill>
                  <a:srgbClr val="34D399"/>
                </a:solidFill>
              </a:rPr>
              <a:t>✓ Virtual Machine Implementation: </a:t>
            </a:r>
            <a:r>
              <a:rPr sz="1300">
                <a:solidFill>
                  <a:srgbClr val="94A3B8"/>
                </a:solidFill>
              </a:rPr>
              <a:t>Emulation of CPU execution cycles, instruction decoding, and runtime state preservation.</a:t>
            </a:r>
          </a:p>
          <a:p>
            <a:pPr>
              <a:spcBef>
                <a:spcPts val="1000"/>
              </a:spcBef>
            </a:pPr>
            <a:r>
              <a:rPr b="1" sz="1300">
                <a:solidFill>
                  <a:srgbClr val="34D399"/>
                </a:solidFill>
              </a:rPr>
              <a:t>✓ Full-Stack Systems Integration: </a:t>
            </a:r>
            <a:r>
              <a:rPr sz="1300">
                <a:solidFill>
                  <a:srgbClr val="94A3B8"/>
                </a:solidFill>
              </a:rPr>
              <a:t>Connecting compiler backends to interactive visual applications via modern REST APIs.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411480"/>
            <a:ext cx="3200400" cy="32004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137160" tIns="36576"/>
          <a:lstStyle/>
          <a:p>
            <a:pPr algn="ctr">
              <a:defRPr sz="1000" b="1">
                <a:solidFill>
                  <a:srgbClr val="38BDF8"/>
                </a:solidFill>
                <a:latin typeface="Segoe UI"/>
              </a:defRPr>
            </a:pPr>
            <a:r>
              <a:t>PROJECT ROADMAP</a:t>
            </a:r>
          </a:p>
        </p:txBody>
      </p:sp>
      <p:sp>
        <p:nvSpPr>
          <p:cNvPr id="4" name="TextBox 3"/>
          <p:cNvSpPr txBox="1"/>
          <p:nvPr/>
        </p:nvSpPr>
        <p:spPr>
          <a:xfrm>
            <a:off x="731520" y="777240"/>
            <a:ext cx="10698480" cy="640080"/>
          </a:xfrm>
          <a:prstGeom prst="rect">
            <a:avLst/>
          </a:prstGeom>
          <a:noFill/>
        </p:spPr>
        <p:txBody>
          <a:bodyPr wrap="square" lIns="0" tIns="0">
            <a:spAutoFit/>
          </a:bodyPr>
          <a:lstStyle/>
          <a:p>
            <a:pPr>
              <a:defRPr sz="2600" b="1">
                <a:solidFill>
                  <a:srgbClr val="F8FAFC"/>
                </a:solidFill>
                <a:latin typeface="Segoe UI"/>
              </a:defRPr>
            </a:pPr>
            <a:r>
              <a:t>Future Enhancements &amp; Scalability</a:t>
            </a:r>
          </a:p>
          <a:p>
            <a:pPr>
              <a:spcBef>
                <a:spcPts val="400"/>
              </a:spcBef>
              <a:defRPr sz="1300">
                <a:solidFill>
                  <a:srgbClr val="94A3B8"/>
                </a:solidFill>
                <a:latin typeface="Segoe UI"/>
              </a:defRPr>
            </a:pPr>
            <a:r>
              <a:t>Planned language evolution and advanced simulation capabilities</a:t>
            </a:r>
          </a:p>
        </p:txBody>
      </p:sp>
      <p:sp>
        <p:nvSpPr>
          <p:cNvPr id="5" name="Rounded Rectangle 4"/>
          <p:cNvSpPr/>
          <p:nvPr/>
        </p:nvSpPr>
        <p:spPr>
          <a:xfrm>
            <a:off x="731520" y="1645920"/>
            <a:ext cx="2514600" cy="457200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Control Flow &amp; Logic</a:t>
            </a:r>
          </a:p>
          <a:p>
            <a:pPr>
              <a:spcBef>
                <a:spcPts val="800"/>
              </a:spcBef>
              <a:defRPr sz="1200">
                <a:solidFill>
                  <a:srgbClr val="94A3B8"/>
                </a:solidFill>
                <a:latin typeface="Segoe UI"/>
              </a:defRPr>
            </a:pPr>
            <a:r>
              <a:t>• Loop statements (REPEAT n ... END)</a:t>
            </a:r>
            <a:br/>
            <a:r>
              <a:t>• Conditional branching (IF ... ELSE)</a:t>
            </a:r>
            <a:br/>
            <a:r>
              <a:t>• Boolean expressions</a:t>
            </a:r>
            <a:br/>
            <a:r>
              <a:t>• While-condition execution loops</a:t>
            </a:r>
          </a:p>
        </p:txBody>
      </p:sp>
      <p:sp>
        <p:nvSpPr>
          <p:cNvPr id="6" name="Rounded Rectangle 5"/>
          <p:cNvSpPr/>
          <p:nvPr/>
        </p:nvSpPr>
        <p:spPr>
          <a:xfrm>
            <a:off x="3429000" y="1645920"/>
            <a:ext cx="2514600" cy="4572000"/>
          </a:xfrm>
          <a:prstGeom prst="roundRect">
            <a:avLst/>
          </a:prstGeom>
          <a:solidFill>
            <a:srgbClr val="1E293B"/>
          </a:solidFill>
          <a:ln w="12700">
            <a:solidFill>
              <a:srgbClr val="60A5FA"/>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Variables &amp; Arithmetic</a:t>
            </a:r>
          </a:p>
          <a:p>
            <a:pPr>
              <a:spcBef>
                <a:spcPts val="800"/>
              </a:spcBef>
              <a:defRPr sz="1200">
                <a:solidFill>
                  <a:srgbClr val="94A3B8"/>
                </a:solidFill>
                <a:latin typeface="Segoe UI"/>
              </a:defRPr>
            </a:pPr>
            <a:r>
              <a:t>• Variable assignment (SET speed = 50)</a:t>
            </a:r>
            <a:br/>
            <a:r>
              <a:t>• Mathematical expressions (+, -, *, /)</a:t>
            </a:r>
            <a:br/>
            <a:r>
              <a:t>• Sensor variables (DISTANCE_TO_WALL)</a:t>
            </a:r>
            <a:br/>
            <a:r>
              <a:t>• Scoped symbol tables</a:t>
            </a:r>
          </a:p>
        </p:txBody>
      </p:sp>
      <p:sp>
        <p:nvSpPr>
          <p:cNvPr id="7" name="Rounded Rectangle 6"/>
          <p:cNvSpPr/>
          <p:nvPr/>
        </p:nvSpPr>
        <p:spPr>
          <a:xfrm>
            <a:off x="6126480" y="1645920"/>
            <a:ext cx="2514600" cy="4572000"/>
          </a:xfrm>
          <a:prstGeom prst="roundRect">
            <a:avLst/>
          </a:prstGeom>
          <a:solidFill>
            <a:srgbClr val="1E293B"/>
          </a:solidFill>
          <a:ln w="1270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Simulation Upgrades</a:t>
            </a:r>
          </a:p>
          <a:p>
            <a:pPr>
              <a:spcBef>
                <a:spcPts val="800"/>
              </a:spcBef>
              <a:defRPr sz="1200">
                <a:solidFill>
                  <a:srgbClr val="94A3B8"/>
                </a:solidFill>
                <a:latin typeface="Segoe UI"/>
              </a:defRPr>
            </a:pPr>
            <a:r>
              <a:t>• 2D Obstacles &amp; maze navigation</a:t>
            </a:r>
            <a:br/>
            <a:r>
              <a:t>• Multi-robot collision simulation</a:t>
            </a:r>
            <a:br/>
            <a:r>
              <a:t>• Checkpoints, maps &amp; goal targets</a:t>
            </a:r>
            <a:br/>
            <a:r>
              <a:t>• Ultrasonic / proximity sensor emulation</a:t>
            </a:r>
          </a:p>
        </p:txBody>
      </p:sp>
      <p:sp>
        <p:nvSpPr>
          <p:cNvPr id="8" name="Rounded Rectangle 7"/>
          <p:cNvSpPr/>
          <p:nvPr/>
        </p:nvSpPr>
        <p:spPr>
          <a:xfrm>
            <a:off x="8823960" y="1645920"/>
            <a:ext cx="2514600" cy="4572000"/>
          </a:xfrm>
          <a:prstGeom prst="roundRect">
            <a:avLst/>
          </a:prstGeom>
          <a:solidFill>
            <a:srgbClr val="1E293B"/>
          </a:solidFill>
          <a:ln w="12700">
            <a:solidFill>
              <a:srgbClr val="FBBF2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201168" bIns="201168"/>
          <a:lstStyle/>
          <a:p>
            <a:pPr algn="ctr">
              <a:spcAft>
                <a:spcPts val="1000"/>
              </a:spcAft>
              <a:defRPr sz="1600" b="1">
                <a:solidFill>
                  <a:srgbClr val="38BDF8"/>
                </a:solidFill>
                <a:latin typeface="Segoe UI"/>
              </a:defRPr>
            </a:pPr>
            <a:r>
              <a:t>Developer Tooling</a:t>
            </a:r>
          </a:p>
          <a:p>
            <a:pPr>
              <a:spcBef>
                <a:spcPts val="800"/>
              </a:spcBef>
              <a:defRPr sz="1200">
                <a:solidFill>
                  <a:srgbClr val="94A3B8"/>
                </a:solidFill>
                <a:latin typeface="Segoe UI"/>
              </a:defRPr>
            </a:pPr>
            <a:r>
              <a:t>• Interactive step breakpoint debugger</a:t>
            </a:r>
            <a:br/>
            <a:r>
              <a:t>• Save/Load script files to local disk</a:t>
            </a:r>
            <a:br/>
            <a:r>
              <a:t>• Program execution statistics</a:t>
            </a:r>
            <a:br/>
            <a:r>
              <a:t>• Code completion &amp; syntax highlighting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645920" y="914400"/>
            <a:ext cx="8869680" cy="502920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457200" bIns="201168"/>
          <a:lstStyle/>
          <a:p>
            <a:pPr algn="ctr">
              <a:defRPr sz="2800" b="1">
                <a:solidFill>
                  <a:srgbClr val="F8FAFC"/>
                </a:solidFill>
                <a:latin typeface="Segoe UI"/>
              </a:defRPr>
            </a:pPr>
            <a:r>
              <a:t>RoboLang: Conclusions &amp; Summary</a:t>
            </a:r>
          </a:p>
          <a:p>
            <a:pPr algn="ctr">
              <a:spcBef>
                <a:spcPts val="800"/>
              </a:spcBef>
              <a:defRPr sz="1600" b="1">
                <a:solidFill>
                  <a:srgbClr val="38BDF8"/>
                </a:solidFill>
                <a:latin typeface="Segoe UI"/>
              </a:defRPr>
            </a:pPr>
            <a:r>
              <a:t>Write Code. Compile It. Control a Robot.</a:t>
            </a:r>
          </a:p>
          <a:p>
            <a:pPr>
              <a:spcBef>
                <a:spcPts val="1400"/>
              </a:spcBef>
            </a:pPr>
          </a:p>
          <a:p>
            <a:pPr algn="l">
              <a:spcBef>
                <a:spcPts val="800"/>
              </a:spcBef>
            </a:pPr>
            <a:r>
              <a:rPr b="1" sz="1300">
                <a:solidFill>
                  <a:srgbClr val="34D399"/>
                </a:solidFill>
              </a:rPr>
              <a:t>  ★ End-to-End Pipeline: </a:t>
            </a:r>
            <a:r>
              <a:rPr sz="1300">
                <a:solidFill>
                  <a:srgbClr val="F8FAFC"/>
                </a:solidFill>
              </a:rPr>
              <a:t>Successfully implemented all 7 stages of compilation from Lexer to Virtual Machine.</a:t>
            </a:r>
          </a:p>
          <a:p>
            <a:pPr algn="l">
              <a:spcBef>
                <a:spcPts val="800"/>
              </a:spcBef>
            </a:pPr>
            <a:r>
              <a:rPr b="1" sz="1300">
                <a:solidFill>
                  <a:srgbClr val="34D399"/>
                </a:solidFill>
              </a:rPr>
              <a:t>  ★ Interactive Experience: </a:t>
            </a:r>
            <a:r>
              <a:rPr sz="1300">
                <a:solidFill>
                  <a:srgbClr val="F8FAFC"/>
                </a:solidFill>
              </a:rPr>
              <a:t>Bridged abstract computer science theory with an engaging 2D visual execution environment.</a:t>
            </a:r>
          </a:p>
          <a:p>
            <a:pPr algn="l">
              <a:spcBef>
                <a:spcPts val="800"/>
              </a:spcBef>
            </a:pPr>
            <a:r>
              <a:rPr b="1" sz="1300">
                <a:solidFill>
                  <a:srgbClr val="34D399"/>
                </a:solidFill>
              </a:rPr>
              <a:t>  ★ Robust Software Architecture: </a:t>
            </a:r>
            <a:r>
              <a:rPr sz="1300">
                <a:solidFill>
                  <a:srgbClr val="F8FAFC"/>
                </a:solidFill>
              </a:rPr>
              <a:t>Modular Python compiler, FastAPI backend, and HTML5 Canvas IDE.</a:t>
            </a:r>
          </a:p>
          <a:p>
            <a:pPr algn="l">
              <a:spcBef>
                <a:spcPts val="800"/>
              </a:spcBef>
            </a:pPr>
            <a:r>
              <a:rPr b="1" sz="1300">
                <a:solidFill>
                  <a:srgbClr val="34D399"/>
                </a:solidFill>
              </a:rPr>
              <a:t>  ★ Academic Significance: </a:t>
            </a:r>
            <a:r>
              <a:rPr sz="1300">
                <a:solidFill>
                  <a:srgbClr val="F8FAFC"/>
                </a:solidFill>
              </a:rPr>
              <a:t>Demonstrated full mastery of compiler design, formal grammars, and runtime execution.</a:t>
            </a:r>
          </a:p>
          <a:p>
            <a:pPr algn="ctr">
              <a:spcBef>
                <a:spcPts val="2400"/>
              </a:spcBef>
              <a:defRPr sz="1800" b="1">
                <a:solidFill>
                  <a:srgbClr val="FBBF24"/>
                </a:solidFill>
                <a:latin typeface="Segoe UI"/>
              </a:defRPr>
            </a:pPr>
            <a:r>
              <a:t>Thank You! Questions &amp; Discussion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